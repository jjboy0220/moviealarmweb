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3"/>
  </p:notesMasterIdLst>
  <p:sldIdLst>
    <p:sldId id="276" r:id="rId2"/>
    <p:sldId id="277" r:id="rId3"/>
    <p:sldId id="278" r:id="rId4"/>
    <p:sldId id="279" r:id="rId5"/>
    <p:sldId id="280" r:id="rId6"/>
    <p:sldId id="293" r:id="rId7"/>
    <p:sldId id="281" r:id="rId8"/>
    <p:sldId id="282" r:id="rId9"/>
    <p:sldId id="294" r:id="rId10"/>
    <p:sldId id="283" r:id="rId11"/>
    <p:sldId id="284" r:id="rId12"/>
    <p:sldId id="285" r:id="rId13"/>
    <p:sldId id="295" r:id="rId14"/>
    <p:sldId id="286" r:id="rId15"/>
    <p:sldId id="287" r:id="rId16"/>
    <p:sldId id="296" r:id="rId17"/>
    <p:sldId id="288" r:id="rId18"/>
    <p:sldId id="289" r:id="rId19"/>
    <p:sldId id="290" r:id="rId20"/>
    <p:sldId id="291" r:id="rId21"/>
    <p:sldId id="292" r:id="rId22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56" d="100"/>
          <a:sy n="156" d="100"/>
        </p:scale>
        <p:origin x="-324" y="13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FDBB1B-8BA6-4A60-80A7-26A56A14ABC7}" type="datetimeFigureOut">
              <a:rPr lang="zh-TW" altLang="en-US" smtClean="0"/>
              <a:t>2026/7/18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A6D0E5-BDEB-4AC3-A3A0-336F92CD4D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5675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7" name="投影片編號版面配置區 14"/>
          <p:cNvSpPr>
            <a:spLocks noGrp="1"/>
          </p:cNvSpPr>
          <p:nvPr>
            <p:ph type="sldNum" sz="quarter" idx="4"/>
          </p:nvPr>
        </p:nvSpPr>
        <p:spPr>
          <a:xfrm>
            <a:off x="4860032" y="4919752"/>
            <a:ext cx="613147" cy="195486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algn="ctr"/>
            <a:fld id="{57E5B56B-F16F-4281-B156-88B11B6C2413}" type="slidenum">
              <a:rPr lang="zh-TW" altLang="en-US" smtClean="0">
                <a:solidFill>
                  <a:schemeClr val="bg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‹#›</a:t>
            </a:fld>
            <a:endParaRPr lang="zh-TW" altLang="en-US" sz="1050" dirty="0">
              <a:solidFill>
                <a:schemeClr val="bg1"/>
              </a:solidFill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954150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7" name="投影片編號版面配置區 14"/>
          <p:cNvSpPr>
            <a:spLocks noGrp="1"/>
          </p:cNvSpPr>
          <p:nvPr>
            <p:ph type="sldNum" sz="quarter" idx="4"/>
          </p:nvPr>
        </p:nvSpPr>
        <p:spPr>
          <a:xfrm>
            <a:off x="4860032" y="4919752"/>
            <a:ext cx="613147" cy="195486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algn="ctr"/>
            <a:fld id="{3E8AE919-3F8E-4CBA-923C-7A8CBED34249}" type="slidenum">
              <a:rPr lang="zh-TW" altLang="en-US" smtClean="0">
                <a:solidFill>
                  <a:schemeClr val="bg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pPr algn="ctr"/>
              <a:t>‹#›</a:t>
            </a:fld>
            <a:endParaRPr lang="zh-TW" altLang="en-US" sz="1050" dirty="0">
              <a:solidFill>
                <a:schemeClr val="bg1"/>
              </a:solidFill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171794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7" name="投影片編號版面配置區 14"/>
          <p:cNvSpPr>
            <a:spLocks noGrp="1"/>
          </p:cNvSpPr>
          <p:nvPr>
            <p:ph type="sldNum" sz="quarter" idx="4"/>
          </p:nvPr>
        </p:nvSpPr>
        <p:spPr>
          <a:xfrm>
            <a:off x="4860032" y="4919752"/>
            <a:ext cx="613147" cy="195486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algn="ctr"/>
            <a:fld id="{3E8AE919-3F8E-4CBA-923C-7A8CBED34249}" type="slidenum">
              <a:rPr lang="zh-TW" altLang="en-US" smtClean="0">
                <a:solidFill>
                  <a:schemeClr val="bg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pPr algn="ctr"/>
              <a:t>‹#›</a:t>
            </a:fld>
            <a:endParaRPr lang="zh-TW" altLang="en-US" sz="1050" dirty="0">
              <a:solidFill>
                <a:schemeClr val="bg1"/>
              </a:solidFill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055749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2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18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18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2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18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18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8" name="投影片編號版面配置區 14"/>
          <p:cNvSpPr>
            <a:spLocks noGrp="1"/>
          </p:cNvSpPr>
          <p:nvPr>
            <p:ph type="sldNum" sz="quarter" idx="4"/>
          </p:nvPr>
        </p:nvSpPr>
        <p:spPr>
          <a:xfrm>
            <a:off x="4860032" y="4919752"/>
            <a:ext cx="613147" cy="195486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algn="ctr"/>
            <a:fld id="{3E8AE919-3F8E-4CBA-923C-7A8CBED34249}" type="slidenum">
              <a:rPr lang="zh-TW" altLang="en-US" smtClean="0">
                <a:solidFill>
                  <a:schemeClr val="bg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pPr algn="ctr"/>
              <a:t>‹#›</a:t>
            </a:fld>
            <a:endParaRPr lang="zh-TW" altLang="en-US" sz="1050" dirty="0">
              <a:solidFill>
                <a:schemeClr val="bg1"/>
              </a:solidFill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555624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18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18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1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10" name="投影片編號版面配置區 14"/>
          <p:cNvSpPr>
            <a:spLocks noGrp="1"/>
          </p:cNvSpPr>
          <p:nvPr>
            <p:ph type="sldNum" sz="quarter" idx="10"/>
          </p:nvPr>
        </p:nvSpPr>
        <p:spPr>
          <a:xfrm>
            <a:off x="4860032" y="4919752"/>
            <a:ext cx="613147" cy="195486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algn="ctr"/>
            <a:fld id="{3E8AE919-3F8E-4CBA-923C-7A8CBED34249}" type="slidenum">
              <a:rPr lang="zh-TW" altLang="en-US" smtClean="0">
                <a:solidFill>
                  <a:schemeClr val="bg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pPr algn="ctr"/>
              <a:t>‹#›</a:t>
            </a:fld>
            <a:endParaRPr lang="zh-TW" altLang="en-US" sz="1050" dirty="0">
              <a:solidFill>
                <a:schemeClr val="bg1"/>
              </a:solidFill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393052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6" name="投影片編號版面配置區 14"/>
          <p:cNvSpPr>
            <a:spLocks noGrp="1"/>
          </p:cNvSpPr>
          <p:nvPr>
            <p:ph type="sldNum" sz="quarter" idx="4"/>
          </p:nvPr>
        </p:nvSpPr>
        <p:spPr>
          <a:xfrm>
            <a:off x="4860032" y="4919752"/>
            <a:ext cx="613147" cy="195486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algn="ctr"/>
            <a:fld id="{3E8AE919-3F8E-4CBA-923C-7A8CBED34249}" type="slidenum">
              <a:rPr lang="zh-TW" altLang="en-US" smtClean="0">
                <a:solidFill>
                  <a:schemeClr val="bg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pPr algn="ctr"/>
              <a:t>‹#›</a:t>
            </a:fld>
            <a:endParaRPr lang="zh-TW" altLang="en-US" sz="1050" dirty="0">
              <a:solidFill>
                <a:schemeClr val="bg1"/>
              </a:solidFill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804195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14"/>
          <p:cNvSpPr>
            <a:spLocks noGrp="1"/>
          </p:cNvSpPr>
          <p:nvPr>
            <p:ph type="sldNum" sz="quarter" idx="4"/>
          </p:nvPr>
        </p:nvSpPr>
        <p:spPr>
          <a:xfrm>
            <a:off x="4860032" y="4919752"/>
            <a:ext cx="613147" cy="195486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algn="ctr"/>
            <a:fld id="{3E8AE919-3F8E-4CBA-923C-7A8CBED34249}" type="slidenum">
              <a:rPr lang="zh-TW" altLang="en-US" smtClean="0">
                <a:solidFill>
                  <a:schemeClr val="bg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pPr algn="ctr"/>
              <a:t>‹#›</a:t>
            </a:fld>
            <a:endParaRPr lang="zh-TW" altLang="en-US" sz="1050" dirty="0">
              <a:solidFill>
                <a:schemeClr val="bg1"/>
              </a:solidFill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503395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8" name="投影片編號版面配置區 14"/>
          <p:cNvSpPr>
            <a:spLocks noGrp="1"/>
          </p:cNvSpPr>
          <p:nvPr>
            <p:ph type="sldNum" sz="quarter" idx="4"/>
          </p:nvPr>
        </p:nvSpPr>
        <p:spPr>
          <a:xfrm>
            <a:off x="4860032" y="4919752"/>
            <a:ext cx="613147" cy="195486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algn="ctr"/>
            <a:fld id="{3E8AE919-3F8E-4CBA-923C-7A8CBED34249}" type="slidenum">
              <a:rPr lang="zh-TW" altLang="en-US" smtClean="0">
                <a:solidFill>
                  <a:schemeClr val="bg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pPr algn="ctr"/>
              <a:t>‹#›</a:t>
            </a:fld>
            <a:endParaRPr lang="zh-TW" altLang="en-US" sz="1050" dirty="0">
              <a:solidFill>
                <a:schemeClr val="bg1"/>
              </a:solidFill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772306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8" name="投影片編號版面配置區 14"/>
          <p:cNvSpPr>
            <a:spLocks noGrp="1"/>
          </p:cNvSpPr>
          <p:nvPr>
            <p:ph type="sldNum" sz="quarter" idx="4"/>
          </p:nvPr>
        </p:nvSpPr>
        <p:spPr>
          <a:xfrm>
            <a:off x="4860032" y="4919752"/>
            <a:ext cx="613147" cy="195486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algn="ctr"/>
            <a:fld id="{3E8AE919-3F8E-4CBA-923C-7A8CBED34249}" type="slidenum">
              <a:rPr lang="zh-TW" altLang="en-US" smtClean="0">
                <a:solidFill>
                  <a:schemeClr val="bg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pPr algn="ctr"/>
              <a:t>‹#›</a:t>
            </a:fld>
            <a:endParaRPr lang="zh-TW" altLang="en-US" sz="1050" dirty="0">
              <a:solidFill>
                <a:schemeClr val="bg1"/>
              </a:solidFill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86339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投影片編號版面配置區 14"/>
          <p:cNvSpPr>
            <a:spLocks noGrp="1"/>
          </p:cNvSpPr>
          <p:nvPr>
            <p:ph type="sldNum" sz="quarter" idx="4"/>
          </p:nvPr>
        </p:nvSpPr>
        <p:spPr>
          <a:xfrm>
            <a:off x="4860032" y="4919752"/>
            <a:ext cx="613147" cy="195486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algn="ctr"/>
            <a:fld id="{3E8AE919-3F8E-4CBA-923C-7A8CBED34249}" type="slidenum">
              <a:rPr lang="zh-TW" altLang="en-US" smtClean="0">
                <a:solidFill>
                  <a:schemeClr val="bg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pPr algn="ctr"/>
              <a:t>‹#›</a:t>
            </a:fld>
            <a:endParaRPr lang="zh-TW" altLang="en-US" sz="1050" dirty="0">
              <a:solidFill>
                <a:schemeClr val="bg1"/>
              </a:solidFill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558579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7" name="投影片編號版面配置區 14"/>
          <p:cNvSpPr>
            <a:spLocks noGrp="1"/>
          </p:cNvSpPr>
          <p:nvPr>
            <p:ph type="sldNum" sz="quarter" idx="4"/>
          </p:nvPr>
        </p:nvSpPr>
        <p:spPr>
          <a:xfrm>
            <a:off x="4860032" y="4919752"/>
            <a:ext cx="613147" cy="195486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algn="ctr"/>
            <a:fld id="{3E8AE919-3F8E-4CBA-923C-7A8CBED34249}" type="slidenum">
              <a:rPr lang="zh-TW" altLang="en-US" smtClean="0">
                <a:solidFill>
                  <a:schemeClr val="bg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pPr algn="ctr"/>
              <a:t>‹#›</a:t>
            </a:fld>
            <a:endParaRPr lang="zh-TW" altLang="en-US" sz="1050" dirty="0">
              <a:solidFill>
                <a:schemeClr val="bg1"/>
              </a:solidFill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23144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圖片 11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3" name="文字方塊 12"/>
          <p:cNvSpPr txBox="1"/>
          <p:nvPr/>
        </p:nvSpPr>
        <p:spPr>
          <a:xfrm>
            <a:off x="7866467" y="670"/>
            <a:ext cx="12666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400" b="0" dirty="0" smtClean="0">
                <a:solidFill>
                  <a:schemeClr val="bg1">
                    <a:lumMod val="75000"/>
                  </a:schemeClr>
                </a:solidFill>
                <a:effectLst/>
                <a:latin typeface="+mj-lt"/>
                <a:ea typeface="微軟正黑體" panose="020B0604030504040204" pitchFamily="34" charset="-120"/>
              </a:rPr>
              <a:t>CONFIDENTIAL</a:t>
            </a:r>
            <a:endParaRPr lang="zh-TW" altLang="en-US" sz="1400" b="0" dirty="0" smtClean="0">
              <a:solidFill>
                <a:schemeClr val="bg1">
                  <a:lumMod val="75000"/>
                </a:schemeClr>
              </a:solidFill>
              <a:effectLst/>
              <a:latin typeface="+mj-lt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211960" y="4924738"/>
            <a:ext cx="84584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000" dirty="0" smtClean="0">
                <a:solidFill>
                  <a:schemeClr val="bg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Technical</a:t>
            </a:r>
            <a:endParaRPr lang="zh-TW" altLang="zh-TW" sz="1000" dirty="0">
              <a:solidFill>
                <a:schemeClr val="bg1"/>
              </a:solidFill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15" name="投影片編號版面配置區 14"/>
          <p:cNvSpPr>
            <a:spLocks noGrp="1"/>
          </p:cNvSpPr>
          <p:nvPr>
            <p:ph type="sldNum" sz="quarter" idx="4"/>
          </p:nvPr>
        </p:nvSpPr>
        <p:spPr>
          <a:xfrm>
            <a:off x="4860032" y="4919752"/>
            <a:ext cx="613147" cy="195486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algn="ctr"/>
            <a:fld id="{3E8AE919-3F8E-4CBA-923C-7A8CBED34249}" type="slidenum">
              <a:rPr lang="zh-TW" altLang="en-US" smtClean="0">
                <a:solidFill>
                  <a:schemeClr val="bg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pPr algn="ctr"/>
              <a:t>‹#›</a:t>
            </a:fld>
            <a:endParaRPr lang="zh-TW" altLang="en-US" sz="1050" dirty="0">
              <a:solidFill>
                <a:schemeClr val="bg1"/>
              </a:solidFill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04893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文字方塊 5"/>
          <p:cNvSpPr txBox="1"/>
          <p:nvPr/>
        </p:nvSpPr>
        <p:spPr>
          <a:xfrm>
            <a:off x="1983929" y="3003798"/>
            <a:ext cx="525658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500" smtClean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JhengHei"/>
                <a:ea typeface="Microsoft JhengHei"/>
              </a:rPr>
              <a:t>Movie Schedule Alarm V1.0 </a:t>
            </a:r>
            <a:r>
              <a:rPr lang="zh-TW" altLang="en-US" sz="2500" smtClean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JhengHei"/>
                <a:ea typeface="Microsoft JhengHei"/>
              </a:rPr>
              <a:t>操作講義</a:t>
            </a:r>
            <a:endParaRPr lang="zh-TW" altLang="en-US" sz="2500" dirty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JhengHei"/>
              <a:ea typeface="Microsoft JhengHei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3347864" y="3827324"/>
            <a:ext cx="2528715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700" smtClean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JhengHei"/>
                <a:ea typeface="Microsoft JhengHei"/>
              </a:rPr>
              <a:t>2026/07/18</a:t>
            </a:r>
            <a:endParaRPr lang="zh-TW" altLang="en-US" sz="1700" dirty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JhengHei"/>
              <a:ea typeface="Microsoft JhengHei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7866467" y="670"/>
            <a:ext cx="12666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400" b="0" dirty="0" smtClean="0">
                <a:solidFill>
                  <a:schemeClr val="bg1">
                    <a:lumMod val="75000"/>
                  </a:schemeClr>
                </a:solidFill>
                <a:effectLst/>
                <a:latin typeface="+mj-lt"/>
                <a:ea typeface="微軟正黑體" panose="020B0604030504040204" pitchFamily="34" charset="-120"/>
              </a:rPr>
              <a:t>CONFIDENTIAL</a:t>
            </a:r>
            <a:endParaRPr lang="zh-TW" altLang="en-US" sz="1400" b="0" dirty="0" smtClean="0">
              <a:solidFill>
                <a:schemeClr val="bg1">
                  <a:lumMod val="75000"/>
                </a:schemeClr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16150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b="1" smtClean="0">
                <a:latin typeface="Microsoft JhengHei"/>
                <a:ea typeface="Microsoft JhengHei"/>
              </a:rPr>
              <a:t>開發背景與目標</a:t>
            </a:r>
            <a:endParaRPr lang="zh-TW" altLang="en-US" sz="2800" b="1" dirty="0">
              <a:latin typeface="Microsoft JhengHei"/>
              <a:ea typeface="Microsoft JhengHei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altLang="zh-TW" sz="2000" smtClean="0">
                <a:latin typeface="Microsoft JhengHei"/>
                <a:ea typeface="Microsoft JhengHei"/>
              </a:rPr>
              <a:t>• </a:t>
            </a:r>
            <a:r>
              <a:rPr lang="zh-TW" altLang="en-US" sz="2000" smtClean="0">
                <a:latin typeface="Microsoft JhengHei"/>
                <a:ea typeface="Microsoft JhengHei"/>
              </a:rPr>
              <a:t>每日場次多、跨午夜且同時間開播，人工逐筆監看容易遺漏
</a:t>
            </a:r>
            <a:r>
              <a:rPr lang="en-US" altLang="zh-TW" sz="2000" smtClean="0">
                <a:latin typeface="Microsoft JhengHei"/>
                <a:ea typeface="Microsoft JhengHei"/>
              </a:rPr>
              <a:t>• Excel </a:t>
            </a:r>
            <a:r>
              <a:rPr lang="zh-TW" altLang="en-US" sz="2000" smtClean="0">
                <a:latin typeface="Microsoft JhengHei"/>
                <a:ea typeface="Microsoft JhengHei"/>
              </a:rPr>
              <a:t>與 </a:t>
            </a:r>
            <a:r>
              <a:rPr lang="en-US" altLang="zh-TW" sz="2000" smtClean="0">
                <a:latin typeface="Microsoft JhengHei"/>
                <a:ea typeface="Microsoft JhengHei"/>
              </a:rPr>
              <a:t>PDF </a:t>
            </a:r>
            <a:r>
              <a:rPr lang="zh-TW" altLang="en-US" sz="2000" smtClean="0">
                <a:latin typeface="Microsoft JhengHei"/>
                <a:ea typeface="Microsoft JhengHei"/>
              </a:rPr>
              <a:t>格式可能不同，日期欄位也可能出現錯誤文字
</a:t>
            </a:r>
            <a:r>
              <a:rPr lang="en-US" altLang="zh-TW" sz="2000" smtClean="0">
                <a:latin typeface="Microsoft JhengHei"/>
                <a:ea typeface="Microsoft JhengHei"/>
              </a:rPr>
              <a:t>• </a:t>
            </a:r>
            <a:r>
              <a:rPr lang="zh-TW" altLang="en-US" sz="2000" smtClean="0">
                <a:latin typeface="Microsoft JhengHei"/>
                <a:ea typeface="Microsoft JhengHei"/>
              </a:rPr>
              <a:t>視窗最小化或被其他程式覆蓋時，仍需要準時提醒
</a:t>
            </a:r>
            <a:r>
              <a:rPr lang="en-US" altLang="zh-TW" sz="2000" smtClean="0">
                <a:latin typeface="Microsoft JhengHei"/>
                <a:ea typeface="Microsoft JhengHei"/>
              </a:rPr>
              <a:t>• </a:t>
            </a:r>
            <a:r>
              <a:rPr lang="zh-TW" altLang="en-US" sz="2000" smtClean="0">
                <a:latin typeface="Microsoft JhengHei"/>
                <a:ea typeface="Microsoft JhengHei"/>
              </a:rPr>
              <a:t>目標：把匯入、整理、倒數、警報與每週更新整合成一套離線桌面工具</a:t>
            </a:r>
            <a:endParaRPr lang="zh-TW" altLang="en-US" sz="2000" dirty="0">
              <a:latin typeface="Microsoft JhengHei"/>
              <a:ea typeface="Microsoft JhengHei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3E8AE919-3F8E-4CBA-923C-7A8CBED34249}" type="slidenum">
              <a:rPr lang="zh-TW" altLang="en-US" smtClean="0">
                <a:solidFill>
                  <a:schemeClr val="bg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pPr algn="ctr"/>
              <a:t>2</a:t>
            </a:fld>
            <a:endParaRPr lang="zh-TW" altLang="en-US" sz="1050" dirty="0">
              <a:solidFill>
                <a:schemeClr val="bg1"/>
              </a:solidFill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40585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b="1" smtClean="0">
                <a:latin typeface="Microsoft JhengHei"/>
                <a:ea typeface="Microsoft JhengHei"/>
              </a:rPr>
              <a:t>主要功能總覽</a:t>
            </a:r>
            <a:endParaRPr lang="zh-TW" altLang="en-US" sz="2800" b="1" dirty="0">
              <a:latin typeface="Microsoft JhengHei"/>
              <a:ea typeface="Microsoft JhengHei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altLang="zh-TW" sz="2000" smtClean="0">
                <a:latin typeface="Microsoft JhengHei"/>
                <a:ea typeface="Microsoft JhengHei"/>
              </a:rPr>
              <a:t>• Excel</a:t>
            </a:r>
            <a:r>
              <a:rPr lang="zh-TW" altLang="en-US" sz="2000" smtClean="0">
                <a:latin typeface="Microsoft JhengHei"/>
                <a:ea typeface="Microsoft JhengHei"/>
              </a:rPr>
              <a:t>／</a:t>
            </a:r>
            <a:r>
              <a:rPr lang="en-US" altLang="zh-TW" sz="2000" smtClean="0">
                <a:latin typeface="Microsoft JhengHei"/>
                <a:ea typeface="Microsoft JhengHei"/>
              </a:rPr>
              <a:t>PDF </a:t>
            </a:r>
            <a:r>
              <a:rPr lang="zh-TW" altLang="en-US" sz="2000" smtClean="0">
                <a:latin typeface="Microsoft JhengHei"/>
                <a:ea typeface="Microsoft JhengHei"/>
              </a:rPr>
              <a:t>場次表匯入與自動解析
</a:t>
            </a:r>
            <a:r>
              <a:rPr lang="en-US" altLang="zh-TW" sz="2000" smtClean="0">
                <a:latin typeface="Microsoft JhengHei"/>
                <a:ea typeface="Microsoft JhengHei"/>
              </a:rPr>
              <a:t>• </a:t>
            </a:r>
            <a:r>
              <a:rPr lang="zh-TW" altLang="en-US" sz="2000" smtClean="0">
                <a:latin typeface="Microsoft JhengHei"/>
                <a:ea typeface="Microsoft JhengHei"/>
              </a:rPr>
              <a:t>依營運日處理跨午夜場次，並提供日期下拉選單
</a:t>
            </a:r>
            <a:r>
              <a:rPr lang="en-US" altLang="zh-TW" sz="2000" smtClean="0">
                <a:latin typeface="Microsoft JhengHei"/>
                <a:ea typeface="Microsoft JhengHei"/>
              </a:rPr>
              <a:t>• Next Movie</a:t>
            </a:r>
            <a:r>
              <a:rPr lang="zh-TW" altLang="en-US" sz="2000" smtClean="0">
                <a:latin typeface="Microsoft JhengHei"/>
                <a:ea typeface="Microsoft JhengHei"/>
              </a:rPr>
              <a:t>、開播時間、倒數與同時開播群組
</a:t>
            </a:r>
            <a:r>
              <a:rPr lang="en-US" altLang="zh-TW" sz="2000" smtClean="0">
                <a:latin typeface="Microsoft JhengHei"/>
                <a:ea typeface="Microsoft JhengHei"/>
              </a:rPr>
              <a:t>• DCP </a:t>
            </a:r>
            <a:r>
              <a:rPr lang="zh-TW" altLang="en-US" sz="2000" smtClean="0">
                <a:latin typeface="Microsoft JhengHei"/>
                <a:ea typeface="Microsoft JhengHei"/>
              </a:rPr>
              <a:t>英文／中文片名對照，可每週完整更新
</a:t>
            </a:r>
            <a:r>
              <a:rPr lang="en-US" altLang="zh-TW" sz="2000" smtClean="0">
                <a:latin typeface="Microsoft JhengHei"/>
                <a:ea typeface="Microsoft JhengHei"/>
              </a:rPr>
              <a:t>• </a:t>
            </a:r>
            <a:r>
              <a:rPr lang="zh-TW" altLang="en-US" sz="2000" smtClean="0">
                <a:latin typeface="Microsoft JhengHei"/>
                <a:ea typeface="Microsoft JhengHei"/>
              </a:rPr>
              <a:t>背景警報、最小化自動還原、系統匣與 </a:t>
            </a:r>
            <a:r>
              <a:rPr lang="en-US" altLang="zh-TW" sz="2000" smtClean="0">
                <a:latin typeface="Microsoft JhengHei"/>
                <a:ea typeface="Microsoft JhengHei"/>
              </a:rPr>
              <a:t>Windows </a:t>
            </a:r>
            <a:r>
              <a:rPr lang="zh-TW" altLang="en-US" sz="2000" smtClean="0">
                <a:latin typeface="Microsoft JhengHei"/>
                <a:ea typeface="Microsoft JhengHei"/>
              </a:rPr>
              <a:t>登入啟動
</a:t>
            </a:r>
            <a:r>
              <a:rPr lang="en-US" altLang="zh-TW" sz="2000" smtClean="0">
                <a:latin typeface="Microsoft JhengHei"/>
                <a:ea typeface="Microsoft JhengHei"/>
              </a:rPr>
              <a:t>• SheetJS </a:t>
            </a:r>
            <a:r>
              <a:rPr lang="zh-TW" altLang="en-US" sz="2000" smtClean="0">
                <a:latin typeface="Microsoft JhengHei"/>
                <a:ea typeface="Microsoft JhengHei"/>
              </a:rPr>
              <a:t>與 </a:t>
            </a:r>
            <a:r>
              <a:rPr lang="en-US" altLang="zh-TW" sz="2000" smtClean="0">
                <a:latin typeface="Microsoft JhengHei"/>
                <a:ea typeface="Microsoft JhengHei"/>
              </a:rPr>
              <a:t>PDF.js </a:t>
            </a:r>
            <a:r>
              <a:rPr lang="zh-TW" altLang="en-US" sz="2000" smtClean="0">
                <a:latin typeface="Microsoft JhengHei"/>
                <a:ea typeface="Microsoft JhengHei"/>
              </a:rPr>
              <a:t>完全本機化，斷網仍可使用</a:t>
            </a:r>
            <a:endParaRPr lang="zh-TW" altLang="en-US" sz="2000" dirty="0">
              <a:latin typeface="Microsoft JhengHei"/>
              <a:ea typeface="Microsoft JhengHei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3E8AE919-3F8E-4CBA-923C-7A8CBED34249}" type="slidenum">
              <a:rPr lang="zh-TW" altLang="en-US" smtClean="0">
                <a:solidFill>
                  <a:schemeClr val="bg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pPr algn="ctr"/>
              <a:t>3</a:t>
            </a:fld>
            <a:endParaRPr lang="zh-TW" altLang="en-US" sz="1050" dirty="0">
              <a:solidFill>
                <a:schemeClr val="bg1"/>
              </a:solidFill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14398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b="1" smtClean="0">
                <a:latin typeface="Microsoft JhengHei"/>
                <a:ea typeface="Microsoft JhengHei"/>
              </a:rPr>
              <a:t>安裝與第一次啟動</a:t>
            </a:r>
            <a:endParaRPr lang="zh-TW" altLang="en-US" sz="2800" b="1" dirty="0">
              <a:latin typeface="Microsoft JhengHei"/>
              <a:ea typeface="Microsoft JhengHei"/>
            </a:endParaRPr>
          </a:p>
        </p:txBody>
      </p:sp>
      <p:sp>
        <p:nvSpPr>
          <p:cNvPr id="6" name="內容版面配置區 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spcAft>
                <a:spcPts val="500"/>
              </a:spcAft>
              <a:buNone/>
            </a:pPr>
            <a:r>
              <a:rPr lang="zh-TW" altLang="en-US" sz="1600" smtClean="0">
                <a:latin typeface="Microsoft JhengHei"/>
                <a:ea typeface="Microsoft JhengHei"/>
              </a:rPr>
              <a:t>安裝版
</a:t>
            </a:r>
            <a:r>
              <a:rPr lang="en-US" altLang="zh-TW" sz="1600" smtClean="0">
                <a:latin typeface="Microsoft JhengHei"/>
                <a:ea typeface="Microsoft JhengHei"/>
              </a:rPr>
              <a:t>1. </a:t>
            </a:r>
            <a:r>
              <a:rPr lang="zh-TW" altLang="en-US" sz="1600" smtClean="0">
                <a:latin typeface="Microsoft JhengHei"/>
                <a:ea typeface="Microsoft JhengHei"/>
              </a:rPr>
              <a:t>執行 </a:t>
            </a:r>
            <a:r>
              <a:rPr lang="en-US" altLang="zh-TW" sz="1600" smtClean="0">
                <a:latin typeface="Microsoft JhengHei"/>
                <a:ea typeface="Microsoft JhengHei"/>
              </a:rPr>
              <a:t>V1.0 Setup
2. </a:t>
            </a:r>
            <a:r>
              <a:rPr lang="zh-TW" altLang="en-US" sz="1600" smtClean="0">
                <a:latin typeface="Microsoft JhengHei"/>
                <a:ea typeface="Microsoft JhengHei"/>
              </a:rPr>
              <a:t>從開始功能表開啟
</a:t>
            </a:r>
            <a:r>
              <a:rPr lang="en-US" altLang="zh-TW" sz="1600" smtClean="0">
                <a:latin typeface="Microsoft JhengHei"/>
                <a:ea typeface="Microsoft JhengHei"/>
              </a:rPr>
              <a:t>3. </a:t>
            </a:r>
            <a:r>
              <a:rPr lang="zh-TW" altLang="en-US" sz="1600" smtClean="0">
                <a:latin typeface="Microsoft JhengHei"/>
                <a:ea typeface="Microsoft JhengHei"/>
              </a:rPr>
              <a:t>可再釘選到工作列
</a:t>
            </a:r>
            <a:r>
              <a:rPr lang="en-US" altLang="zh-TW" sz="1600" smtClean="0">
                <a:latin typeface="Microsoft JhengHei"/>
                <a:ea typeface="Microsoft JhengHei"/>
              </a:rPr>
              <a:t>4. </a:t>
            </a:r>
            <a:r>
              <a:rPr lang="zh-TW" altLang="en-US" sz="1600" smtClean="0">
                <a:latin typeface="Microsoft JhengHei"/>
                <a:ea typeface="Microsoft JhengHei"/>
              </a:rPr>
              <a:t>確認系統匣圖示出現
</a:t>
            </a:r>
            <a:r>
              <a:rPr lang="en-US" altLang="zh-TW" sz="1600" smtClean="0">
                <a:latin typeface="Microsoft JhengHei"/>
                <a:ea typeface="Microsoft JhengHei"/>
              </a:rPr>
              <a:t>5. </a:t>
            </a:r>
            <a:r>
              <a:rPr lang="zh-TW" altLang="en-US" sz="1600" smtClean="0">
                <a:latin typeface="Microsoft JhengHei"/>
                <a:ea typeface="Microsoft JhengHei"/>
              </a:rPr>
              <a:t>鬧鐘啟動時預設開啟</a:t>
            </a:r>
            <a:endParaRPr lang="zh-TW" altLang="en-US" sz="1600" dirty="0">
              <a:latin typeface="Microsoft JhengHei"/>
              <a:ea typeface="Microsoft JhengHei"/>
            </a:endParaRPr>
          </a:p>
        </p:txBody>
      </p:sp>
      <p:sp>
        <p:nvSpPr>
          <p:cNvPr id="7" name="內容版面配置區 6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spcAft>
                <a:spcPts val="500"/>
              </a:spcAft>
              <a:buNone/>
            </a:pPr>
            <a:r>
              <a:rPr lang="zh-TW" altLang="en-US" sz="1600" smtClean="0">
                <a:latin typeface="Microsoft JhengHei"/>
                <a:ea typeface="Microsoft JhengHei"/>
              </a:rPr>
              <a:t>第一次確認
</a:t>
            </a:r>
            <a:r>
              <a:rPr lang="en-US" altLang="zh-TW" sz="1600" smtClean="0">
                <a:latin typeface="Microsoft JhengHei"/>
                <a:ea typeface="Microsoft JhengHei"/>
              </a:rPr>
              <a:t>• </a:t>
            </a:r>
            <a:r>
              <a:rPr lang="zh-TW" altLang="en-US" sz="1600" smtClean="0">
                <a:latin typeface="Microsoft JhengHei"/>
                <a:ea typeface="Microsoft JhengHei"/>
              </a:rPr>
              <a:t>不需要安裝 </a:t>
            </a:r>
            <a:r>
              <a:rPr lang="en-US" altLang="zh-TW" sz="1600" smtClean="0">
                <a:latin typeface="Microsoft JhengHei"/>
                <a:ea typeface="Microsoft JhengHei"/>
              </a:rPr>
              <a:t>Node.js </a:t>
            </a:r>
            <a:r>
              <a:rPr lang="zh-TW" altLang="en-US" sz="1600" smtClean="0">
                <a:latin typeface="Microsoft JhengHei"/>
                <a:ea typeface="Microsoft JhengHei"/>
              </a:rPr>
              <a:t>或 </a:t>
            </a:r>
            <a:r>
              <a:rPr lang="en-US" altLang="zh-TW" sz="1600" smtClean="0">
                <a:latin typeface="Microsoft JhengHei"/>
                <a:ea typeface="Microsoft JhengHei"/>
              </a:rPr>
              <a:t>Python
• </a:t>
            </a:r>
            <a:r>
              <a:rPr lang="zh-TW" altLang="en-US" sz="1600" smtClean="0">
                <a:latin typeface="Microsoft JhengHei"/>
                <a:ea typeface="Microsoft JhengHei"/>
              </a:rPr>
              <a:t>沒有場次時不會播放警報
</a:t>
            </a:r>
            <a:r>
              <a:rPr lang="en-US" altLang="zh-TW" sz="1600" smtClean="0">
                <a:latin typeface="Microsoft JhengHei"/>
                <a:ea typeface="Microsoft JhengHei"/>
              </a:rPr>
              <a:t>• </a:t>
            </a:r>
            <a:r>
              <a:rPr lang="zh-TW" altLang="en-US" sz="1600" smtClean="0">
                <a:latin typeface="Microsoft JhengHei"/>
                <a:ea typeface="Microsoft JhengHei"/>
              </a:rPr>
              <a:t>設定中心可選擇登入後啟動
</a:t>
            </a:r>
            <a:r>
              <a:rPr lang="en-US" altLang="zh-TW" sz="1600" smtClean="0">
                <a:latin typeface="Microsoft JhengHei"/>
                <a:ea typeface="Microsoft JhengHei"/>
              </a:rPr>
              <a:t>• </a:t>
            </a:r>
            <a:r>
              <a:rPr lang="zh-TW" altLang="en-US" sz="1600" smtClean="0">
                <a:latin typeface="Microsoft JhengHei"/>
                <a:ea typeface="Microsoft JhengHei"/>
              </a:rPr>
              <a:t>關閉視窗時依場次狀態確認
</a:t>
            </a:r>
            <a:r>
              <a:rPr lang="en-US" altLang="zh-TW" sz="1600" smtClean="0">
                <a:latin typeface="Microsoft JhengHei"/>
                <a:ea typeface="Microsoft JhengHei"/>
              </a:rPr>
              <a:t>• </a:t>
            </a:r>
            <a:r>
              <a:rPr lang="zh-TW" altLang="en-US" sz="1600" smtClean="0">
                <a:latin typeface="Microsoft JhengHei"/>
                <a:ea typeface="Microsoft JhengHei"/>
              </a:rPr>
              <a:t>正式使用只保留安裝版本</a:t>
            </a:r>
            <a:endParaRPr lang="zh-TW" altLang="en-US" sz="1600" dirty="0">
              <a:latin typeface="Microsoft JhengHei"/>
              <a:ea typeface="Microsoft JhengHei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3E8AE919-3F8E-4CBA-923C-7A8CBED34249}" type="slidenum">
              <a:rPr lang="zh-TW" altLang="en-US" smtClean="0">
                <a:solidFill>
                  <a:schemeClr val="bg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pPr algn="ctr"/>
              <a:t>4</a:t>
            </a:fld>
            <a:endParaRPr lang="zh-TW" altLang="en-US" sz="1050" dirty="0">
              <a:solidFill>
                <a:schemeClr val="bg1"/>
              </a:solidFill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81695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b="1" smtClean="0">
                <a:latin typeface="Microsoft JhengHei"/>
                <a:ea typeface="Microsoft JhengHei"/>
              </a:rPr>
              <a:t>匯入 </a:t>
            </a:r>
            <a:r>
              <a:rPr lang="en-US" altLang="zh-TW" sz="2800" b="1" smtClean="0">
                <a:latin typeface="Microsoft JhengHei"/>
                <a:ea typeface="Microsoft JhengHei"/>
              </a:rPr>
              <a:t>Excel </a:t>
            </a:r>
            <a:r>
              <a:rPr lang="zh-TW" altLang="en-US" sz="2800" b="1" smtClean="0">
                <a:latin typeface="Microsoft JhengHei"/>
                <a:ea typeface="Microsoft JhengHei"/>
              </a:rPr>
              <a:t>或 </a:t>
            </a:r>
            <a:r>
              <a:rPr lang="en-US" altLang="zh-TW" sz="2800" b="1" smtClean="0">
                <a:latin typeface="Microsoft JhengHei"/>
                <a:ea typeface="Microsoft JhengHei"/>
              </a:rPr>
              <a:t>PDF </a:t>
            </a:r>
            <a:r>
              <a:rPr lang="zh-TW" altLang="en-US" sz="2800" b="1" smtClean="0">
                <a:latin typeface="Microsoft JhengHei"/>
                <a:ea typeface="Microsoft JhengHei"/>
              </a:rPr>
              <a:t>場次表</a:t>
            </a:r>
            <a:endParaRPr lang="zh-TW" altLang="en-US" sz="2800" b="1" dirty="0">
              <a:latin typeface="Microsoft JhengHei"/>
              <a:ea typeface="Microsoft JhengHei"/>
            </a:endParaRPr>
          </a:p>
        </p:txBody>
      </p:sp>
      <p:sp>
        <p:nvSpPr>
          <p:cNvPr id="6" name="內容版面配置區 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altLang="zh-TW" sz="1800" smtClean="0">
                <a:latin typeface="Microsoft JhengHei"/>
                <a:ea typeface="Microsoft JhengHei"/>
              </a:rPr>
              <a:t>Excel
1. </a:t>
            </a:r>
            <a:r>
              <a:rPr lang="zh-TW" altLang="en-US" sz="1800" smtClean="0">
                <a:latin typeface="Microsoft JhengHei"/>
                <a:ea typeface="Microsoft JhengHei"/>
              </a:rPr>
              <a:t>點選匯入 </a:t>
            </a:r>
            <a:r>
              <a:rPr lang="en-US" altLang="zh-TW" sz="1800" smtClean="0">
                <a:latin typeface="Microsoft JhengHei"/>
                <a:ea typeface="Microsoft JhengHei"/>
              </a:rPr>
              <a:t>Excel
2. </a:t>
            </a:r>
            <a:r>
              <a:rPr lang="zh-TW" altLang="en-US" sz="1800" smtClean="0">
                <a:latin typeface="Microsoft JhengHei"/>
                <a:ea typeface="Microsoft JhengHei"/>
              </a:rPr>
              <a:t>選擇實際場次檔
</a:t>
            </a:r>
            <a:r>
              <a:rPr lang="en-US" altLang="zh-TW" sz="1800" smtClean="0">
                <a:latin typeface="Microsoft JhengHei"/>
                <a:ea typeface="Microsoft JhengHei"/>
              </a:rPr>
              <a:t>3. </a:t>
            </a:r>
            <a:r>
              <a:rPr lang="zh-TW" altLang="en-US" sz="1800" smtClean="0">
                <a:latin typeface="Microsoft JhengHei"/>
                <a:ea typeface="Microsoft JhengHei"/>
              </a:rPr>
              <a:t>系統偵測必要欄位
</a:t>
            </a:r>
            <a:r>
              <a:rPr lang="en-US" altLang="zh-TW" sz="1800" smtClean="0">
                <a:latin typeface="Microsoft JhengHei"/>
                <a:ea typeface="Microsoft JhengHei"/>
              </a:rPr>
              <a:t>4. </a:t>
            </a:r>
            <a:r>
              <a:rPr lang="zh-TW" altLang="en-US" sz="1800" smtClean="0">
                <a:latin typeface="Microsoft JhengHei"/>
                <a:ea typeface="Microsoft JhengHei"/>
              </a:rPr>
              <a:t>解析影廳、時間、語言與規格
</a:t>
            </a:r>
            <a:r>
              <a:rPr lang="en-US" altLang="zh-TW" sz="1800" smtClean="0">
                <a:latin typeface="Microsoft JhengHei"/>
                <a:ea typeface="Microsoft JhengHei"/>
              </a:rPr>
              <a:t>5. </a:t>
            </a:r>
            <a:r>
              <a:rPr lang="zh-TW" altLang="en-US" sz="1800" smtClean="0">
                <a:latin typeface="Microsoft JhengHei"/>
                <a:ea typeface="Microsoft JhengHei"/>
              </a:rPr>
              <a:t>成功後更新完整場次</a:t>
            </a:r>
            <a:endParaRPr lang="zh-TW" altLang="en-US" sz="1800" dirty="0">
              <a:latin typeface="Microsoft JhengHei"/>
              <a:ea typeface="Microsoft JhengHei"/>
            </a:endParaRPr>
          </a:p>
        </p:txBody>
      </p:sp>
      <p:sp>
        <p:nvSpPr>
          <p:cNvPr id="7" name="內容版面配置區 6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altLang="zh-TW" sz="1800" smtClean="0">
                <a:latin typeface="Microsoft JhengHei"/>
                <a:ea typeface="Microsoft JhengHei"/>
              </a:rPr>
              <a:t>PDF
1. </a:t>
            </a:r>
            <a:r>
              <a:rPr lang="zh-TW" altLang="en-US" sz="1800" smtClean="0">
                <a:latin typeface="Microsoft JhengHei"/>
                <a:ea typeface="Microsoft JhengHei"/>
              </a:rPr>
              <a:t>點選匯入 </a:t>
            </a:r>
            <a:r>
              <a:rPr lang="en-US" altLang="zh-TW" sz="1800" smtClean="0">
                <a:latin typeface="Microsoft JhengHei"/>
                <a:ea typeface="Microsoft JhengHei"/>
              </a:rPr>
              <a:t>PDF
2. </a:t>
            </a:r>
            <a:r>
              <a:rPr lang="zh-TW" altLang="en-US" sz="1800" smtClean="0">
                <a:latin typeface="Microsoft JhengHei"/>
                <a:ea typeface="Microsoft JhengHei"/>
              </a:rPr>
              <a:t>可匯入單日或整週檔案
</a:t>
            </a:r>
            <a:r>
              <a:rPr lang="en-US" altLang="zh-TW" sz="1800" smtClean="0">
                <a:latin typeface="Microsoft JhengHei"/>
                <a:ea typeface="Microsoft JhengHei"/>
              </a:rPr>
              <a:t>3. </a:t>
            </a:r>
            <a:r>
              <a:rPr lang="zh-TW" altLang="en-US" sz="1800" smtClean="0">
                <a:latin typeface="Microsoft JhengHei"/>
                <a:ea typeface="Microsoft JhengHei"/>
              </a:rPr>
              <a:t>依頁面日期建立場次
</a:t>
            </a:r>
            <a:r>
              <a:rPr lang="en-US" altLang="zh-TW" sz="1800" smtClean="0">
                <a:latin typeface="Microsoft JhengHei"/>
                <a:ea typeface="Microsoft JhengHei"/>
              </a:rPr>
              <a:t>4. </a:t>
            </a:r>
            <a:r>
              <a:rPr lang="zh-TW" altLang="en-US" sz="1800" smtClean="0">
                <a:latin typeface="Microsoft JhengHei"/>
                <a:ea typeface="Microsoft JhengHei"/>
              </a:rPr>
              <a:t>檔名可輔助修正日期
</a:t>
            </a:r>
            <a:r>
              <a:rPr lang="en-US" altLang="zh-TW" sz="1800" smtClean="0">
                <a:latin typeface="Microsoft JhengHei"/>
                <a:ea typeface="Microsoft JhengHei"/>
              </a:rPr>
              <a:t>5. </a:t>
            </a:r>
            <a:r>
              <a:rPr lang="zh-TW" altLang="en-US" sz="1800" smtClean="0">
                <a:latin typeface="Microsoft JhengHei"/>
                <a:ea typeface="Microsoft JhengHei"/>
              </a:rPr>
              <a:t>失敗時保留上一份有效資料</a:t>
            </a:r>
            <a:endParaRPr lang="zh-TW" altLang="en-US" sz="1800" dirty="0">
              <a:latin typeface="Microsoft JhengHei"/>
              <a:ea typeface="Microsoft JhengHei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3E8AE919-3F8E-4CBA-923C-7A8CBED34249}" type="slidenum">
              <a:rPr lang="zh-TW" altLang="en-US" smtClean="0">
                <a:solidFill>
                  <a:schemeClr val="bg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pPr algn="ctr"/>
              <a:t>5</a:t>
            </a:fld>
            <a:endParaRPr lang="zh-TW" altLang="en-US" sz="1050" dirty="0">
              <a:solidFill>
                <a:schemeClr val="bg1"/>
              </a:solidFill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96321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b="1" smtClean="0">
                <a:latin typeface="Microsoft JhengHei"/>
                <a:ea typeface="Microsoft JhengHei"/>
              </a:rPr>
              <a:t>Excel</a:t>
            </a:r>
            <a:r>
              <a:rPr lang="zh-TW" altLang="en-US" sz="2800" b="1" smtClean="0">
                <a:latin typeface="Microsoft JhengHei"/>
                <a:ea typeface="Microsoft JhengHei"/>
              </a:rPr>
              <a:t>／</a:t>
            </a:r>
            <a:r>
              <a:rPr lang="en-US" altLang="zh-TW" sz="2800" b="1" smtClean="0">
                <a:latin typeface="Microsoft JhengHei"/>
                <a:ea typeface="Microsoft JhengHei"/>
              </a:rPr>
              <a:t>PDF </a:t>
            </a:r>
            <a:r>
              <a:rPr lang="zh-TW" altLang="en-US" sz="2800" b="1" smtClean="0">
                <a:latin typeface="Microsoft JhengHei"/>
                <a:ea typeface="Microsoft JhengHei"/>
              </a:rPr>
              <a:t>匯入流程示意圖</a:t>
            </a:r>
            <a:endParaRPr lang="zh-TW" altLang="en-US" sz="2800" b="1" dirty="0">
              <a:latin typeface="Microsoft JhengHei"/>
              <a:ea typeface="Microsoft JhengHei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3E8AE919-3F8E-4CBA-923C-7A8CBED34249}" type="slidenum">
              <a:rPr lang="zh-TW" altLang="en-US" smtClean="0">
                <a:solidFill>
                  <a:schemeClr val="bg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pPr algn="ctr"/>
              <a:t>6</a:t>
            </a:fld>
            <a:endParaRPr lang="zh-TW" altLang="en-US" sz="1050" dirty="0">
              <a:solidFill>
                <a:schemeClr val="bg1"/>
              </a:solidFill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圓角矩形 5"/>
          <p:cNvSpPr/>
          <p:nvPr/>
        </p:nvSpPr>
        <p:spPr>
          <a:xfrm>
            <a:off x="571500" y="1524000"/>
            <a:ext cx="1587500" cy="1016000"/>
          </a:xfrm>
          <a:prstGeom prst="roundRect">
            <a:avLst/>
          </a:prstGeom>
          <a:solidFill>
            <a:srgbClr val="00749F"/>
          </a:solidFill>
          <a:ln w="19050">
            <a:solidFill>
              <a:srgbClr val="807F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700" b="1" smtClean="0">
                <a:solidFill>
                  <a:srgbClr val="FFFFFF"/>
                </a:solidFill>
                <a:latin typeface="Microsoft JhengHei"/>
                <a:ea typeface="Microsoft JhengHei"/>
              </a:rPr>
              <a:t>Excel</a:t>
            </a:r>
          </a:p>
          <a:p>
            <a:pPr algn="ctr"/>
            <a:r>
              <a:rPr lang="en-US" altLang="zh-TW" sz="1700" b="1" smtClean="0">
                <a:solidFill>
                  <a:srgbClr val="FFFFFF"/>
                </a:solidFill>
                <a:latin typeface="Microsoft JhengHei"/>
                <a:ea typeface="Microsoft JhengHei"/>
              </a:rPr>
              <a:t>.xlsx</a:t>
            </a:r>
            <a:r>
              <a:rPr lang="zh-TW" altLang="en-US" sz="1700" b="1" smtClean="0">
                <a:solidFill>
                  <a:srgbClr val="FFFFFF"/>
                </a:solidFill>
                <a:latin typeface="Microsoft JhengHei"/>
                <a:ea typeface="Microsoft JhengHei"/>
              </a:rPr>
              <a:t>／</a:t>
            </a:r>
            <a:r>
              <a:rPr lang="en-US" altLang="zh-TW" sz="1700" b="1" smtClean="0">
                <a:solidFill>
                  <a:srgbClr val="FFFFFF"/>
                </a:solidFill>
                <a:latin typeface="Microsoft JhengHei"/>
                <a:ea typeface="Microsoft JhengHei"/>
              </a:rPr>
              <a:t>.xlsm</a:t>
            </a:r>
            <a:endParaRPr lang="zh-TW" altLang="en-US" sz="1700" b="1">
              <a:solidFill>
                <a:srgbClr val="FFFFFF"/>
              </a:solidFill>
              <a:latin typeface="Microsoft JhengHei"/>
              <a:ea typeface="Microsoft JhengHei"/>
            </a:endParaRPr>
          </a:p>
        </p:txBody>
      </p:sp>
      <p:sp>
        <p:nvSpPr>
          <p:cNvPr id="7" name="圓角矩形 6"/>
          <p:cNvSpPr/>
          <p:nvPr/>
        </p:nvSpPr>
        <p:spPr>
          <a:xfrm>
            <a:off x="571500" y="2984500"/>
            <a:ext cx="1587500" cy="1016000"/>
          </a:xfrm>
          <a:prstGeom prst="roundRect">
            <a:avLst/>
          </a:prstGeom>
          <a:solidFill>
            <a:srgbClr val="00749F"/>
          </a:solidFill>
          <a:ln w="19050">
            <a:solidFill>
              <a:srgbClr val="807F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700" b="1" smtClean="0">
                <a:solidFill>
                  <a:srgbClr val="FFFFFF"/>
                </a:solidFill>
                <a:latin typeface="Microsoft JhengHei"/>
                <a:ea typeface="Microsoft JhengHei"/>
              </a:rPr>
              <a:t>PDF</a:t>
            </a:r>
          </a:p>
          <a:p>
            <a:pPr algn="ctr"/>
            <a:r>
              <a:rPr lang="zh-TW" altLang="en-US" sz="1700" b="1" smtClean="0">
                <a:solidFill>
                  <a:srgbClr val="FFFFFF"/>
                </a:solidFill>
                <a:latin typeface="Microsoft JhengHei"/>
                <a:ea typeface="Microsoft JhengHei"/>
              </a:rPr>
              <a:t>單日／整週</a:t>
            </a:r>
            <a:endParaRPr lang="zh-TW" altLang="en-US" sz="1700" b="1">
              <a:solidFill>
                <a:srgbClr val="FFFFFF"/>
              </a:solidFill>
              <a:latin typeface="Microsoft JhengHei"/>
              <a:ea typeface="Microsoft JhengHei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2286000" y="2286000"/>
            <a:ext cx="635000" cy="461665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zh-TW" altLang="en-US" sz="2400" b="1" smtClean="0">
                <a:solidFill>
                  <a:srgbClr val="006C80"/>
                </a:solidFill>
                <a:latin typeface="Microsoft JhengHei"/>
                <a:ea typeface="Microsoft JhengHei"/>
              </a:rPr>
              <a:t>→</a:t>
            </a:r>
            <a:endParaRPr lang="zh-TW" altLang="en-US" sz="2400" b="1">
              <a:solidFill>
                <a:srgbClr val="006C80"/>
              </a:solidFill>
              <a:latin typeface="Microsoft JhengHei"/>
              <a:ea typeface="Microsoft JhengHei"/>
            </a:endParaRPr>
          </a:p>
        </p:txBody>
      </p:sp>
      <p:sp>
        <p:nvSpPr>
          <p:cNvPr id="9" name="圓角矩形 8"/>
          <p:cNvSpPr/>
          <p:nvPr/>
        </p:nvSpPr>
        <p:spPr>
          <a:xfrm>
            <a:off x="2921000" y="1968500"/>
            <a:ext cx="1714500" cy="1397000"/>
          </a:xfrm>
          <a:prstGeom prst="roundRect">
            <a:avLst/>
          </a:prstGeom>
          <a:solidFill>
            <a:srgbClr val="0066CC"/>
          </a:solidFill>
          <a:ln w="19050">
            <a:solidFill>
              <a:srgbClr val="807F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smtClean="0">
                <a:solidFill>
                  <a:srgbClr val="FFFFFF"/>
                </a:solidFill>
                <a:latin typeface="Microsoft JhengHei"/>
                <a:ea typeface="Microsoft JhengHei"/>
              </a:rPr>
              <a:t>本機解析器</a:t>
            </a:r>
          </a:p>
          <a:p>
            <a:pPr algn="ctr"/>
            <a:r>
              <a:rPr lang="zh-TW" altLang="en-US" sz="1600" b="1" smtClean="0">
                <a:solidFill>
                  <a:srgbClr val="FFFFFF"/>
                </a:solidFill>
                <a:latin typeface="Microsoft JhengHei"/>
                <a:ea typeface="Microsoft JhengHei"/>
              </a:rPr>
              <a:t>欄位、日期</a:t>
            </a:r>
          </a:p>
          <a:p>
            <a:pPr algn="ctr"/>
            <a:r>
              <a:rPr lang="zh-TW" altLang="en-US" sz="1600" b="1" smtClean="0">
                <a:solidFill>
                  <a:srgbClr val="FFFFFF"/>
                </a:solidFill>
                <a:latin typeface="Microsoft JhengHei"/>
                <a:ea typeface="Microsoft JhengHei"/>
              </a:rPr>
              <a:t>影廳、規格</a:t>
            </a:r>
            <a:endParaRPr lang="zh-TW" altLang="en-US" sz="1600" b="1">
              <a:solidFill>
                <a:srgbClr val="FFFFFF"/>
              </a:solidFill>
              <a:latin typeface="Microsoft JhengHei"/>
              <a:ea typeface="Microsoft JhengHei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4762500" y="2413000"/>
            <a:ext cx="635000" cy="461665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zh-TW" altLang="en-US" sz="2400" b="1" smtClean="0">
                <a:solidFill>
                  <a:srgbClr val="006C80"/>
                </a:solidFill>
                <a:latin typeface="Microsoft JhengHei"/>
                <a:ea typeface="Microsoft JhengHei"/>
              </a:rPr>
              <a:t>→</a:t>
            </a:r>
            <a:endParaRPr lang="zh-TW" altLang="en-US" sz="2400" b="1">
              <a:solidFill>
                <a:srgbClr val="006C80"/>
              </a:solidFill>
              <a:latin typeface="Microsoft JhengHei"/>
              <a:ea typeface="Microsoft JhengHei"/>
            </a:endParaRPr>
          </a:p>
        </p:txBody>
      </p:sp>
      <p:sp>
        <p:nvSpPr>
          <p:cNvPr id="11" name="圓角矩形 10"/>
          <p:cNvSpPr/>
          <p:nvPr/>
        </p:nvSpPr>
        <p:spPr>
          <a:xfrm>
            <a:off x="5397500" y="1968500"/>
            <a:ext cx="1524000" cy="1397000"/>
          </a:xfrm>
          <a:prstGeom prst="roundRect">
            <a:avLst/>
          </a:prstGeom>
          <a:solidFill>
            <a:srgbClr val="00749F"/>
          </a:solidFill>
          <a:ln w="19050">
            <a:solidFill>
              <a:srgbClr val="807F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smtClean="0">
                <a:solidFill>
                  <a:srgbClr val="FFFFFF"/>
                </a:solidFill>
                <a:latin typeface="Microsoft JhengHei"/>
                <a:ea typeface="Microsoft JhengHei"/>
              </a:rPr>
              <a:t>集中 </a:t>
            </a:r>
            <a:r>
              <a:rPr lang="en-US" altLang="zh-TW" sz="1600" b="1" smtClean="0">
                <a:solidFill>
                  <a:srgbClr val="FFFFFF"/>
                </a:solidFill>
                <a:latin typeface="Microsoft JhengHei"/>
                <a:ea typeface="Microsoft JhengHei"/>
              </a:rPr>
              <a:t>State</a:t>
            </a:r>
          </a:p>
          <a:p>
            <a:pPr algn="ctr"/>
            <a:r>
              <a:rPr lang="zh-TW" altLang="en-US" sz="1600" b="1" smtClean="0">
                <a:solidFill>
                  <a:srgbClr val="FFFFFF"/>
                </a:solidFill>
                <a:latin typeface="Microsoft JhengHei"/>
                <a:ea typeface="Microsoft JhengHei"/>
              </a:rPr>
              <a:t>完整取代</a:t>
            </a:r>
          </a:p>
          <a:p>
            <a:pPr algn="ctr"/>
            <a:r>
              <a:rPr lang="zh-TW" altLang="en-US" sz="1600" b="1" smtClean="0">
                <a:solidFill>
                  <a:srgbClr val="FFFFFF"/>
                </a:solidFill>
                <a:latin typeface="Microsoft JhengHei"/>
                <a:ea typeface="Microsoft JhengHei"/>
              </a:rPr>
              <a:t>安全保留</a:t>
            </a:r>
            <a:endParaRPr lang="zh-TW" altLang="en-US" sz="1600" b="1">
              <a:solidFill>
                <a:srgbClr val="FFFFFF"/>
              </a:solidFill>
              <a:latin typeface="Microsoft JhengHei"/>
              <a:ea typeface="Microsoft JhengHei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7048500" y="2413000"/>
            <a:ext cx="635000" cy="461665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zh-TW" altLang="en-US" sz="2400" b="1" smtClean="0">
                <a:solidFill>
                  <a:srgbClr val="006C80"/>
                </a:solidFill>
                <a:latin typeface="Microsoft JhengHei"/>
                <a:ea typeface="Microsoft JhengHei"/>
              </a:rPr>
              <a:t>→</a:t>
            </a:r>
            <a:endParaRPr lang="zh-TW" altLang="en-US" sz="2400" b="1">
              <a:solidFill>
                <a:srgbClr val="006C80"/>
              </a:solidFill>
              <a:latin typeface="Microsoft JhengHei"/>
              <a:ea typeface="Microsoft JhengHei"/>
            </a:endParaRPr>
          </a:p>
        </p:txBody>
      </p:sp>
      <p:sp>
        <p:nvSpPr>
          <p:cNvPr id="13" name="圓角矩形 12"/>
          <p:cNvSpPr/>
          <p:nvPr/>
        </p:nvSpPr>
        <p:spPr>
          <a:xfrm>
            <a:off x="7683500" y="1524000"/>
            <a:ext cx="1016000" cy="1016000"/>
          </a:xfrm>
          <a:prstGeom prst="roundRect">
            <a:avLst/>
          </a:prstGeom>
          <a:solidFill>
            <a:srgbClr val="0066CC"/>
          </a:solidFill>
          <a:ln w="19050">
            <a:solidFill>
              <a:srgbClr val="807F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500" b="1" smtClean="0">
                <a:solidFill>
                  <a:srgbClr val="FFFFFF"/>
                </a:solidFill>
                <a:latin typeface="Microsoft JhengHei"/>
                <a:ea typeface="Microsoft JhengHei"/>
              </a:rPr>
              <a:t>場次</a:t>
            </a:r>
          </a:p>
          <a:p>
            <a:pPr algn="ctr"/>
            <a:r>
              <a:rPr lang="zh-TW" altLang="en-US" sz="1500" b="1" smtClean="0">
                <a:solidFill>
                  <a:srgbClr val="FFFFFF"/>
                </a:solidFill>
                <a:latin typeface="Microsoft JhengHei"/>
                <a:ea typeface="Microsoft JhengHei"/>
              </a:rPr>
              <a:t>列表</a:t>
            </a:r>
            <a:endParaRPr lang="zh-TW" altLang="en-US" sz="1500" b="1">
              <a:solidFill>
                <a:srgbClr val="FFFFFF"/>
              </a:solidFill>
              <a:latin typeface="Microsoft JhengHei"/>
              <a:ea typeface="Microsoft JhengHei"/>
            </a:endParaRPr>
          </a:p>
        </p:txBody>
      </p:sp>
      <p:sp>
        <p:nvSpPr>
          <p:cNvPr id="14" name="圓角矩形 13"/>
          <p:cNvSpPr/>
          <p:nvPr/>
        </p:nvSpPr>
        <p:spPr>
          <a:xfrm>
            <a:off x="7683500" y="2984500"/>
            <a:ext cx="1016000" cy="1016000"/>
          </a:xfrm>
          <a:prstGeom prst="roundRect">
            <a:avLst/>
          </a:prstGeom>
          <a:solidFill>
            <a:srgbClr val="0066CC"/>
          </a:solidFill>
          <a:ln w="19050">
            <a:solidFill>
              <a:srgbClr val="807F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500" b="1" smtClean="0">
                <a:solidFill>
                  <a:srgbClr val="FFFFFF"/>
                </a:solidFill>
                <a:latin typeface="Microsoft JhengHei"/>
                <a:ea typeface="Microsoft JhengHei"/>
              </a:rPr>
              <a:t>倒數</a:t>
            </a:r>
          </a:p>
          <a:p>
            <a:pPr algn="ctr"/>
            <a:r>
              <a:rPr lang="zh-TW" altLang="en-US" sz="1500" b="1" smtClean="0">
                <a:solidFill>
                  <a:srgbClr val="FFFFFF"/>
                </a:solidFill>
                <a:latin typeface="Microsoft JhengHei"/>
                <a:ea typeface="Microsoft JhengHei"/>
              </a:rPr>
              <a:t>警報</a:t>
            </a:r>
            <a:endParaRPr lang="zh-TW" altLang="en-US" sz="1500" b="1">
              <a:solidFill>
                <a:srgbClr val="FFFFFF"/>
              </a:solidFill>
              <a:latin typeface="Microsoft JhengHei"/>
              <a:ea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1375621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b="1" smtClean="0">
                <a:latin typeface="Microsoft JhengHei"/>
                <a:ea typeface="Microsoft JhengHei"/>
              </a:rPr>
              <a:t>整週檔案與日期自動修正</a:t>
            </a:r>
            <a:endParaRPr lang="zh-TW" altLang="en-US" sz="2800" b="1" dirty="0">
              <a:latin typeface="Microsoft JhengHei"/>
              <a:ea typeface="Microsoft JhengHei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altLang="zh-TW" sz="2000" smtClean="0">
                <a:latin typeface="Microsoft JhengHei"/>
                <a:ea typeface="Microsoft JhengHei"/>
              </a:rPr>
              <a:t>• </a:t>
            </a:r>
            <a:r>
              <a:rPr lang="zh-TW" altLang="en-US" sz="2000" smtClean="0">
                <a:latin typeface="Microsoft JhengHei"/>
                <a:ea typeface="Microsoft JhengHei"/>
              </a:rPr>
              <a:t>支援檔名週期，例如：</a:t>
            </a:r>
            <a:r>
              <a:rPr lang="en-US" altLang="zh-TW" sz="2000" smtClean="0">
                <a:latin typeface="Microsoft JhengHei"/>
                <a:ea typeface="Microsoft JhengHei"/>
              </a:rPr>
              <a:t>TC 0717-0723_ProjectionSchedulebyStartTime.pdf
• </a:t>
            </a:r>
            <a:r>
              <a:rPr lang="zh-TW" altLang="en-US" sz="2000" smtClean="0">
                <a:latin typeface="Microsoft JhengHei"/>
                <a:ea typeface="Microsoft JhengHei"/>
              </a:rPr>
              <a:t>若 </a:t>
            </a:r>
            <a:r>
              <a:rPr lang="en-US" altLang="zh-TW" sz="2000" smtClean="0">
                <a:latin typeface="Microsoft JhengHei"/>
                <a:ea typeface="Microsoft JhengHei"/>
              </a:rPr>
              <a:t>PDF </a:t>
            </a:r>
            <a:r>
              <a:rPr lang="zh-TW" altLang="en-US" sz="2000" smtClean="0">
                <a:latin typeface="Microsoft JhengHei"/>
                <a:ea typeface="Microsoft JhengHei"/>
              </a:rPr>
              <a:t>標題日期顯示異常，可使用頁面日數與檔名月份／週期組合
</a:t>
            </a:r>
            <a:r>
              <a:rPr lang="en-US" altLang="zh-TW" sz="2000" smtClean="0">
                <a:latin typeface="Microsoft JhengHei"/>
                <a:ea typeface="Microsoft JhengHei"/>
              </a:rPr>
              <a:t>• </a:t>
            </a:r>
            <a:r>
              <a:rPr lang="zh-TW" altLang="en-US" sz="2000" smtClean="0">
                <a:latin typeface="Microsoft JhengHei"/>
                <a:ea typeface="Microsoft JhengHei"/>
              </a:rPr>
              <a:t>例如頁面只讀到「</a:t>
            </a:r>
            <a:r>
              <a:rPr lang="en-US" altLang="zh-TW" sz="2000" smtClean="0">
                <a:latin typeface="Microsoft JhengHei"/>
                <a:ea typeface="Microsoft JhengHei"/>
              </a:rPr>
              <a:t>10, 2026</a:t>
            </a:r>
            <a:r>
              <a:rPr lang="zh-TW" altLang="en-US" sz="2000" smtClean="0">
                <a:latin typeface="Microsoft JhengHei"/>
                <a:ea typeface="Microsoft JhengHei"/>
              </a:rPr>
              <a:t>」，搭配 </a:t>
            </a:r>
            <a:r>
              <a:rPr lang="en-US" altLang="zh-TW" sz="2000" smtClean="0">
                <a:latin typeface="Microsoft JhengHei"/>
                <a:ea typeface="Microsoft JhengHei"/>
              </a:rPr>
              <a:t>0710-0716 </a:t>
            </a:r>
            <a:r>
              <a:rPr lang="zh-TW" altLang="en-US" sz="2000" smtClean="0">
                <a:latin typeface="Microsoft JhengHei"/>
                <a:ea typeface="Microsoft JhengHei"/>
              </a:rPr>
              <a:t>自動判定為 </a:t>
            </a:r>
            <a:r>
              <a:rPr lang="en-US" altLang="zh-TW" sz="2000" smtClean="0">
                <a:latin typeface="Microsoft JhengHei"/>
                <a:ea typeface="Microsoft JhengHei"/>
              </a:rPr>
              <a:t>2026/07/10
• </a:t>
            </a:r>
            <a:r>
              <a:rPr lang="zh-TW" altLang="en-US" sz="2000" smtClean="0">
                <a:latin typeface="Microsoft JhengHei"/>
                <a:ea typeface="Microsoft JhengHei"/>
              </a:rPr>
              <a:t>新週檔案匯入成功後完整取代舊場次，不累加過期資料
</a:t>
            </a:r>
            <a:r>
              <a:rPr lang="en-US" altLang="zh-TW" sz="2000" smtClean="0">
                <a:latin typeface="Microsoft JhengHei"/>
                <a:ea typeface="Microsoft JhengHei"/>
              </a:rPr>
              <a:t>• </a:t>
            </a:r>
            <a:r>
              <a:rPr lang="zh-TW" altLang="en-US" sz="2000" smtClean="0">
                <a:latin typeface="Microsoft JhengHei"/>
                <a:ea typeface="Microsoft JhengHei"/>
              </a:rPr>
              <a:t>原始 </a:t>
            </a:r>
            <a:r>
              <a:rPr lang="en-US" altLang="zh-TW" sz="2000" smtClean="0">
                <a:latin typeface="Microsoft JhengHei"/>
                <a:ea typeface="Microsoft JhengHei"/>
              </a:rPr>
              <a:t>PDF</a:t>
            </a:r>
            <a:r>
              <a:rPr lang="zh-TW" altLang="en-US" sz="2000" smtClean="0">
                <a:latin typeface="Microsoft JhengHei"/>
                <a:ea typeface="Microsoft JhengHei"/>
              </a:rPr>
              <a:t>／</a:t>
            </a:r>
            <a:r>
              <a:rPr lang="en-US" altLang="zh-TW" sz="2000" smtClean="0">
                <a:latin typeface="Microsoft JhengHei"/>
                <a:ea typeface="Microsoft JhengHei"/>
              </a:rPr>
              <a:t>Excel </a:t>
            </a:r>
            <a:r>
              <a:rPr lang="zh-TW" altLang="en-US" sz="2000" smtClean="0">
                <a:latin typeface="Microsoft JhengHei"/>
                <a:ea typeface="Microsoft JhengHei"/>
              </a:rPr>
              <a:t>不會保存進程式，只保存標準化後的場次資料</a:t>
            </a:r>
            <a:endParaRPr lang="zh-TW" altLang="en-US" sz="2000" dirty="0">
              <a:latin typeface="Microsoft JhengHei"/>
              <a:ea typeface="Microsoft JhengHei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3E8AE919-3F8E-4CBA-923C-7A8CBED34249}" type="slidenum">
              <a:rPr lang="zh-TW" altLang="en-US" smtClean="0">
                <a:solidFill>
                  <a:schemeClr val="bg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pPr algn="ctr"/>
              <a:t>7</a:t>
            </a:fld>
            <a:endParaRPr lang="zh-TW" altLang="en-US" sz="1050" dirty="0">
              <a:solidFill>
                <a:schemeClr val="bg1"/>
              </a:solidFill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92532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b="1" smtClean="0">
                <a:latin typeface="Microsoft JhengHei"/>
                <a:ea typeface="Microsoft JhengHei"/>
              </a:rPr>
              <a:t>營運日與跨午夜規則</a:t>
            </a:r>
            <a:endParaRPr lang="zh-TW" altLang="en-US" sz="2800" b="1" dirty="0">
              <a:latin typeface="Microsoft JhengHei"/>
              <a:ea typeface="Microsoft JhengHei"/>
            </a:endParaRPr>
          </a:p>
        </p:txBody>
      </p:sp>
      <p:sp>
        <p:nvSpPr>
          <p:cNvPr id="6" name="內容版面配置區 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altLang="zh-TW" sz="1800" smtClean="0">
                <a:latin typeface="Microsoft JhengHei"/>
                <a:ea typeface="Microsoft JhengHei"/>
              </a:rPr>
              <a:t>7/18 </a:t>
            </a:r>
            <a:r>
              <a:rPr lang="zh-TW" altLang="en-US" sz="1800" smtClean="0">
                <a:latin typeface="Microsoft JhengHei"/>
                <a:ea typeface="Microsoft JhengHei"/>
              </a:rPr>
              <a:t>營運日
</a:t>
            </a:r>
            <a:r>
              <a:rPr lang="en-US" altLang="zh-TW" sz="1800" smtClean="0">
                <a:latin typeface="Microsoft JhengHei"/>
                <a:ea typeface="Microsoft JhengHei"/>
              </a:rPr>
              <a:t>• 7/18 </a:t>
            </a:r>
            <a:r>
              <a:rPr lang="zh-TW" altLang="en-US" sz="1800" smtClean="0">
                <a:latin typeface="Microsoft JhengHei"/>
                <a:ea typeface="Microsoft JhengHei"/>
              </a:rPr>
              <a:t>早場至深夜場
</a:t>
            </a:r>
            <a:r>
              <a:rPr lang="en-US" altLang="zh-TW" sz="1800" smtClean="0">
                <a:latin typeface="Microsoft JhengHei"/>
                <a:ea typeface="Microsoft JhengHei"/>
              </a:rPr>
              <a:t>• 7/19 00:00</a:t>
            </a:r>
            <a:r>
              <a:rPr lang="zh-TW" altLang="en-US" sz="1800" smtClean="0">
                <a:latin typeface="Microsoft JhengHei"/>
                <a:ea typeface="Microsoft JhengHei"/>
              </a:rPr>
              <a:t>～</a:t>
            </a:r>
            <a:r>
              <a:rPr lang="en-US" altLang="zh-TW" sz="1800" smtClean="0">
                <a:latin typeface="Microsoft JhengHei"/>
                <a:ea typeface="Microsoft JhengHei"/>
              </a:rPr>
              <a:t>05:59 </a:t>
            </a:r>
            <a:r>
              <a:rPr lang="zh-TW" altLang="en-US" sz="1800" smtClean="0">
                <a:latin typeface="Microsoft JhengHei"/>
                <a:ea typeface="Microsoft JhengHei"/>
              </a:rPr>
              <a:t>場次
</a:t>
            </a:r>
            <a:r>
              <a:rPr lang="en-US" altLang="zh-TW" sz="1800" smtClean="0">
                <a:latin typeface="Microsoft JhengHei"/>
                <a:ea typeface="Microsoft JhengHei"/>
              </a:rPr>
              <a:t>• </a:t>
            </a:r>
            <a:r>
              <a:rPr lang="zh-TW" altLang="en-US" sz="1800" smtClean="0">
                <a:latin typeface="Microsoft JhengHei"/>
                <a:ea typeface="Microsoft JhengHei"/>
              </a:rPr>
              <a:t>午夜後仍顯示實際日曆日期
</a:t>
            </a:r>
            <a:r>
              <a:rPr lang="en-US" altLang="zh-TW" sz="1800" smtClean="0">
                <a:latin typeface="Microsoft JhengHei"/>
                <a:ea typeface="Microsoft JhengHei"/>
              </a:rPr>
              <a:t>• Alarm </a:t>
            </a:r>
            <a:r>
              <a:rPr lang="zh-TW" altLang="en-US" sz="1800" smtClean="0">
                <a:latin typeface="Microsoft JhengHei"/>
                <a:ea typeface="Microsoft JhengHei"/>
              </a:rPr>
              <a:t>使用完整日期時間</a:t>
            </a:r>
            <a:endParaRPr lang="zh-TW" altLang="en-US" sz="1800" dirty="0">
              <a:latin typeface="Microsoft JhengHei"/>
              <a:ea typeface="Microsoft JhengHei"/>
            </a:endParaRPr>
          </a:p>
        </p:txBody>
      </p:sp>
      <p:sp>
        <p:nvSpPr>
          <p:cNvPr id="7" name="內容版面配置區 6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altLang="zh-TW" sz="1800" smtClean="0">
                <a:latin typeface="Microsoft JhengHei"/>
                <a:ea typeface="Microsoft JhengHei"/>
              </a:rPr>
              <a:t>7/19 </a:t>
            </a:r>
            <a:r>
              <a:rPr lang="zh-TW" altLang="en-US" sz="1800" smtClean="0">
                <a:latin typeface="Microsoft JhengHei"/>
                <a:ea typeface="Microsoft JhengHei"/>
              </a:rPr>
              <a:t>營運日
</a:t>
            </a:r>
            <a:r>
              <a:rPr lang="en-US" altLang="zh-TW" sz="1800" smtClean="0">
                <a:latin typeface="Microsoft JhengHei"/>
                <a:ea typeface="Microsoft JhengHei"/>
              </a:rPr>
              <a:t>• 7/19 06:00 </a:t>
            </a:r>
            <a:r>
              <a:rPr lang="zh-TW" altLang="en-US" sz="1800" smtClean="0">
                <a:latin typeface="Microsoft JhengHei"/>
                <a:ea typeface="Microsoft JhengHei"/>
              </a:rPr>
              <a:t>後的新一天早場
</a:t>
            </a:r>
            <a:r>
              <a:rPr lang="en-US" altLang="zh-TW" sz="1800" smtClean="0">
                <a:latin typeface="Microsoft JhengHei"/>
                <a:ea typeface="Microsoft JhengHei"/>
              </a:rPr>
              <a:t>• </a:t>
            </a:r>
            <a:r>
              <a:rPr lang="zh-TW" altLang="en-US" sz="1800" smtClean="0">
                <a:latin typeface="Microsoft JhengHei"/>
                <a:ea typeface="Microsoft JhengHei"/>
              </a:rPr>
              <a:t>與前一晚凌晨場次分開
</a:t>
            </a:r>
            <a:r>
              <a:rPr lang="en-US" altLang="zh-TW" sz="1800" smtClean="0">
                <a:latin typeface="Microsoft JhengHei"/>
                <a:ea typeface="Microsoft JhengHei"/>
              </a:rPr>
              <a:t>• </a:t>
            </a:r>
            <a:r>
              <a:rPr lang="zh-TW" altLang="en-US" sz="1800" smtClean="0">
                <a:latin typeface="Microsoft JhengHei"/>
                <a:ea typeface="Microsoft JhengHei"/>
              </a:rPr>
              <a:t>日期選單可切換各營運日
</a:t>
            </a:r>
            <a:r>
              <a:rPr lang="en-US" altLang="zh-TW" sz="1800" smtClean="0">
                <a:latin typeface="Microsoft JhengHei"/>
                <a:ea typeface="Microsoft JhengHei"/>
              </a:rPr>
              <a:t>• Next Movie </a:t>
            </a:r>
            <a:r>
              <a:rPr lang="zh-TW" altLang="en-US" sz="1800" smtClean="0">
                <a:latin typeface="Microsoft JhengHei"/>
                <a:ea typeface="Microsoft JhengHei"/>
              </a:rPr>
              <a:t>仍依完整場次判定</a:t>
            </a:r>
            <a:endParaRPr lang="zh-TW" altLang="en-US" sz="1800" dirty="0">
              <a:latin typeface="Microsoft JhengHei"/>
              <a:ea typeface="Microsoft JhengHei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3E8AE919-3F8E-4CBA-923C-7A8CBED34249}" type="slidenum">
              <a:rPr lang="zh-TW" altLang="en-US" smtClean="0">
                <a:solidFill>
                  <a:schemeClr val="bg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pPr algn="ctr"/>
              <a:t>8</a:t>
            </a:fld>
            <a:endParaRPr lang="zh-TW" altLang="en-US" sz="1050" dirty="0">
              <a:solidFill>
                <a:schemeClr val="bg1"/>
              </a:solidFill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9282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b="1" smtClean="0">
                <a:latin typeface="Microsoft JhengHei"/>
                <a:ea typeface="Microsoft JhengHei"/>
              </a:rPr>
              <a:t>跨午夜營運日示意圖</a:t>
            </a:r>
            <a:endParaRPr lang="zh-TW" altLang="en-US" sz="2800" b="1" dirty="0">
              <a:latin typeface="Microsoft JhengHei"/>
              <a:ea typeface="Microsoft JhengHei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3E8AE919-3F8E-4CBA-923C-7A8CBED34249}" type="slidenum">
              <a:rPr lang="zh-TW" altLang="en-US" smtClean="0">
                <a:solidFill>
                  <a:schemeClr val="bg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pPr algn="ctr"/>
              <a:t>9</a:t>
            </a:fld>
            <a:endParaRPr lang="zh-TW" altLang="en-US" sz="1050" dirty="0">
              <a:solidFill>
                <a:schemeClr val="bg1"/>
              </a:solidFill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952500" y="2476500"/>
            <a:ext cx="7239000" cy="63500"/>
          </a:xfrm>
          <a:prstGeom prst="rect">
            <a:avLst/>
          </a:prstGeom>
          <a:solidFill>
            <a:srgbClr val="00749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/>
          <p:cNvSpPr/>
          <p:nvPr/>
        </p:nvSpPr>
        <p:spPr>
          <a:xfrm>
            <a:off x="1079500" y="2311400"/>
            <a:ext cx="355600" cy="355600"/>
          </a:xfrm>
          <a:prstGeom prst="ellipse">
            <a:avLst/>
          </a:prstGeom>
          <a:solidFill>
            <a:srgbClr val="00749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508000" y="1524000"/>
            <a:ext cx="1524000" cy="323165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US" altLang="zh-TW" sz="1500" b="1" smtClean="0">
                <a:solidFill>
                  <a:srgbClr val="000000"/>
                </a:solidFill>
                <a:latin typeface="Microsoft JhengHei"/>
                <a:ea typeface="Microsoft JhengHei"/>
              </a:rPr>
              <a:t>7/18 10:00</a:t>
            </a:r>
            <a:endParaRPr lang="zh-TW" altLang="en-US" sz="1500" b="1">
              <a:solidFill>
                <a:srgbClr val="000000"/>
              </a:solidFill>
              <a:latin typeface="Microsoft JhengHei"/>
              <a:ea typeface="Microsoft JhengHei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317500" y="2921000"/>
            <a:ext cx="1905000" cy="307777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US" altLang="zh-TW" sz="1400" smtClean="0">
                <a:solidFill>
                  <a:srgbClr val="000000"/>
                </a:solidFill>
                <a:latin typeface="Microsoft JhengHei"/>
                <a:ea typeface="Microsoft JhengHei"/>
              </a:rPr>
              <a:t>7/18 </a:t>
            </a:r>
            <a:r>
              <a:rPr lang="zh-TW" altLang="en-US" sz="1400" smtClean="0">
                <a:solidFill>
                  <a:srgbClr val="000000"/>
                </a:solidFill>
                <a:latin typeface="Microsoft JhengHei"/>
                <a:ea typeface="Microsoft JhengHei"/>
              </a:rPr>
              <a:t>營運日開始</a:t>
            </a:r>
            <a:endParaRPr lang="zh-TW" altLang="en-US" sz="1400">
              <a:solidFill>
                <a:srgbClr val="000000"/>
              </a:solidFill>
              <a:latin typeface="Microsoft JhengHei"/>
              <a:ea typeface="Microsoft JhengHei"/>
            </a:endParaRPr>
          </a:p>
        </p:txBody>
      </p:sp>
      <p:sp>
        <p:nvSpPr>
          <p:cNvPr id="10" name="橢圓 9"/>
          <p:cNvSpPr/>
          <p:nvPr/>
        </p:nvSpPr>
        <p:spPr>
          <a:xfrm>
            <a:off x="3619500" y="2311400"/>
            <a:ext cx="355600" cy="355600"/>
          </a:xfrm>
          <a:prstGeom prst="ellipse">
            <a:avLst/>
          </a:prstGeom>
          <a:solidFill>
            <a:srgbClr val="0066C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/>
          <p:cNvSpPr txBox="1"/>
          <p:nvPr/>
        </p:nvSpPr>
        <p:spPr>
          <a:xfrm>
            <a:off x="3048000" y="1524000"/>
            <a:ext cx="1524000" cy="323165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US" altLang="zh-TW" sz="1500" b="1" smtClean="0">
                <a:solidFill>
                  <a:srgbClr val="000000"/>
                </a:solidFill>
                <a:latin typeface="Microsoft JhengHei"/>
                <a:ea typeface="Microsoft JhengHei"/>
              </a:rPr>
              <a:t>7/18 23:15</a:t>
            </a:r>
            <a:endParaRPr lang="zh-TW" altLang="en-US" sz="1500" b="1">
              <a:solidFill>
                <a:srgbClr val="000000"/>
              </a:solidFill>
              <a:latin typeface="Microsoft JhengHei"/>
              <a:ea typeface="Microsoft JhengHei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2857500" y="2921000"/>
            <a:ext cx="1905000" cy="307777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zh-TW" altLang="en-US" sz="1400" smtClean="0">
                <a:solidFill>
                  <a:srgbClr val="000000"/>
                </a:solidFill>
                <a:latin typeface="Microsoft JhengHei"/>
                <a:ea typeface="Microsoft JhengHei"/>
              </a:rPr>
              <a:t>深夜場</a:t>
            </a:r>
            <a:endParaRPr lang="zh-TW" altLang="en-US" sz="1400">
              <a:solidFill>
                <a:srgbClr val="000000"/>
              </a:solidFill>
              <a:latin typeface="Microsoft JhengHei"/>
              <a:ea typeface="Microsoft JhengHei"/>
            </a:endParaRPr>
          </a:p>
        </p:txBody>
      </p:sp>
      <p:sp>
        <p:nvSpPr>
          <p:cNvPr id="13" name="橢圓 12"/>
          <p:cNvSpPr/>
          <p:nvPr/>
        </p:nvSpPr>
        <p:spPr>
          <a:xfrm>
            <a:off x="5651500" y="2311400"/>
            <a:ext cx="355600" cy="355600"/>
          </a:xfrm>
          <a:prstGeom prst="ellipse">
            <a:avLst/>
          </a:prstGeom>
          <a:solidFill>
            <a:srgbClr val="0066C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/>
          <p:cNvSpPr txBox="1"/>
          <p:nvPr/>
        </p:nvSpPr>
        <p:spPr>
          <a:xfrm>
            <a:off x="5080000" y="1524000"/>
            <a:ext cx="1524000" cy="323165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US" altLang="zh-TW" sz="1500" b="1" smtClean="0">
                <a:solidFill>
                  <a:srgbClr val="000000"/>
                </a:solidFill>
                <a:latin typeface="Microsoft JhengHei"/>
                <a:ea typeface="Microsoft JhengHei"/>
              </a:rPr>
              <a:t>7/19 00:40</a:t>
            </a:r>
            <a:endParaRPr lang="zh-TW" altLang="en-US" sz="1500" b="1">
              <a:solidFill>
                <a:srgbClr val="000000"/>
              </a:solidFill>
              <a:latin typeface="Microsoft JhengHei"/>
              <a:ea typeface="Microsoft JhengHei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4889500" y="2921000"/>
            <a:ext cx="1905000" cy="307777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zh-TW" altLang="en-US" sz="1400" smtClean="0">
                <a:solidFill>
                  <a:srgbClr val="000000"/>
                </a:solidFill>
                <a:latin typeface="Microsoft JhengHei"/>
                <a:ea typeface="Microsoft JhengHei"/>
              </a:rPr>
              <a:t>仍歸 </a:t>
            </a:r>
            <a:r>
              <a:rPr lang="en-US" altLang="zh-TW" sz="1400" smtClean="0">
                <a:solidFill>
                  <a:srgbClr val="000000"/>
                </a:solidFill>
                <a:latin typeface="Microsoft JhengHei"/>
                <a:ea typeface="Microsoft JhengHei"/>
              </a:rPr>
              <a:t>7/18 </a:t>
            </a:r>
            <a:r>
              <a:rPr lang="zh-TW" altLang="en-US" sz="1400" smtClean="0">
                <a:solidFill>
                  <a:srgbClr val="000000"/>
                </a:solidFill>
                <a:latin typeface="Microsoft JhengHei"/>
                <a:ea typeface="Microsoft JhengHei"/>
              </a:rPr>
              <a:t>營運日</a:t>
            </a:r>
            <a:endParaRPr lang="zh-TW" altLang="en-US" sz="1400">
              <a:solidFill>
                <a:srgbClr val="000000"/>
              </a:solidFill>
              <a:latin typeface="Microsoft JhengHei"/>
              <a:ea typeface="Microsoft JhengHei"/>
            </a:endParaRPr>
          </a:p>
        </p:txBody>
      </p:sp>
      <p:sp>
        <p:nvSpPr>
          <p:cNvPr id="16" name="橢圓 15"/>
          <p:cNvSpPr/>
          <p:nvPr/>
        </p:nvSpPr>
        <p:spPr>
          <a:xfrm>
            <a:off x="7874000" y="2311400"/>
            <a:ext cx="355600" cy="355600"/>
          </a:xfrm>
          <a:prstGeom prst="ellipse">
            <a:avLst/>
          </a:prstGeom>
          <a:solidFill>
            <a:srgbClr val="00749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/>
          <p:cNvSpPr txBox="1"/>
          <p:nvPr/>
        </p:nvSpPr>
        <p:spPr>
          <a:xfrm>
            <a:off x="7302500" y="1524000"/>
            <a:ext cx="1524000" cy="323165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US" altLang="zh-TW" sz="1500" b="1" smtClean="0">
                <a:solidFill>
                  <a:srgbClr val="000000"/>
                </a:solidFill>
                <a:latin typeface="Microsoft JhengHei"/>
                <a:ea typeface="Microsoft JhengHei"/>
              </a:rPr>
              <a:t>7/19 10:00</a:t>
            </a:r>
            <a:endParaRPr lang="zh-TW" altLang="en-US" sz="1500" b="1">
              <a:solidFill>
                <a:srgbClr val="000000"/>
              </a:solidFill>
              <a:latin typeface="Microsoft JhengHei"/>
              <a:ea typeface="Microsoft JhengHei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7112000" y="2921000"/>
            <a:ext cx="1905000" cy="307777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US" altLang="zh-TW" sz="1400" smtClean="0">
                <a:solidFill>
                  <a:srgbClr val="000000"/>
                </a:solidFill>
                <a:latin typeface="Microsoft JhengHei"/>
                <a:ea typeface="Microsoft JhengHei"/>
              </a:rPr>
              <a:t>7/19 </a:t>
            </a:r>
            <a:r>
              <a:rPr lang="zh-TW" altLang="en-US" sz="1400" smtClean="0">
                <a:solidFill>
                  <a:srgbClr val="000000"/>
                </a:solidFill>
                <a:latin typeface="Microsoft JhengHei"/>
                <a:ea typeface="Microsoft JhengHei"/>
              </a:rPr>
              <a:t>營運日</a:t>
            </a:r>
            <a:endParaRPr lang="zh-TW" altLang="en-US" sz="1400">
              <a:solidFill>
                <a:srgbClr val="000000"/>
              </a:solidFill>
              <a:latin typeface="Microsoft JhengHei"/>
              <a:ea typeface="Microsoft JhengHei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1714500" y="4000500"/>
            <a:ext cx="5715000" cy="338554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zh-TW" altLang="en-US" sz="1600" b="1" smtClean="0">
                <a:solidFill>
                  <a:srgbClr val="006C80"/>
                </a:solidFill>
                <a:latin typeface="Microsoft JhengHei"/>
                <a:ea typeface="Microsoft JhengHei"/>
              </a:rPr>
              <a:t>日期標題顯示實際日曆日；排程與篩選同時保留營運日規則</a:t>
            </a:r>
            <a:endParaRPr lang="zh-TW" altLang="en-US" sz="1600" b="1">
              <a:solidFill>
                <a:srgbClr val="006C80"/>
              </a:solidFill>
              <a:latin typeface="Microsoft JhengHei"/>
              <a:ea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2927310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b="1" smtClean="0">
                <a:latin typeface="Microsoft JhengHei"/>
                <a:ea typeface="Microsoft JhengHei"/>
              </a:rPr>
              <a:t>DCP </a:t>
            </a:r>
            <a:r>
              <a:rPr lang="zh-TW" altLang="en-US" sz="2800" b="1" smtClean="0">
                <a:latin typeface="Microsoft JhengHei"/>
                <a:ea typeface="Microsoft JhengHei"/>
              </a:rPr>
              <a:t>中文片名資料</a:t>
            </a:r>
            <a:endParaRPr lang="zh-TW" altLang="en-US" sz="2800" b="1" dirty="0">
              <a:latin typeface="Microsoft JhengHei"/>
              <a:ea typeface="Microsoft JhengHei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altLang="zh-TW" sz="2000" smtClean="0">
                <a:latin typeface="Microsoft JhengHei"/>
                <a:ea typeface="Microsoft JhengHei"/>
              </a:rPr>
              <a:t>• </a:t>
            </a:r>
            <a:r>
              <a:rPr lang="zh-TW" altLang="en-US" sz="2000" smtClean="0">
                <a:latin typeface="Microsoft JhengHei"/>
                <a:ea typeface="Microsoft JhengHei"/>
              </a:rPr>
              <a:t>設定中心點選「匯入現有 </a:t>
            </a:r>
            <a:r>
              <a:rPr lang="en-US" altLang="zh-TW" sz="2000" smtClean="0">
                <a:latin typeface="Microsoft JhengHei"/>
                <a:ea typeface="Microsoft JhengHei"/>
              </a:rPr>
              <a:t>DCP</a:t>
            </a:r>
            <a:r>
              <a:rPr lang="zh-TW" altLang="en-US" sz="2000" smtClean="0">
                <a:latin typeface="Microsoft JhengHei"/>
                <a:ea typeface="Microsoft JhengHei"/>
              </a:rPr>
              <a:t>」
</a:t>
            </a:r>
            <a:r>
              <a:rPr lang="en-US" altLang="zh-TW" sz="2000" smtClean="0">
                <a:latin typeface="Microsoft JhengHei"/>
                <a:ea typeface="Microsoft JhengHei"/>
              </a:rPr>
              <a:t>• </a:t>
            </a:r>
            <a:r>
              <a:rPr lang="zh-TW" altLang="en-US" sz="2000" smtClean="0">
                <a:latin typeface="Microsoft JhengHei"/>
                <a:ea typeface="Microsoft JhengHei"/>
              </a:rPr>
              <a:t>第一次建立英文／中文片名對照
</a:t>
            </a:r>
            <a:r>
              <a:rPr lang="en-US" altLang="zh-TW" sz="2000" smtClean="0">
                <a:latin typeface="Microsoft JhengHei"/>
                <a:ea typeface="Microsoft JhengHei"/>
              </a:rPr>
              <a:t>• </a:t>
            </a:r>
            <a:r>
              <a:rPr lang="zh-TW" altLang="en-US" sz="2000" smtClean="0">
                <a:latin typeface="Microsoft JhengHei"/>
                <a:ea typeface="Microsoft JhengHei"/>
              </a:rPr>
              <a:t>每週匯入新版 </a:t>
            </a:r>
            <a:r>
              <a:rPr lang="en-US" altLang="zh-TW" sz="2000" smtClean="0">
                <a:latin typeface="Microsoft JhengHei"/>
                <a:ea typeface="Microsoft JhengHei"/>
              </a:rPr>
              <a:t>DCP </a:t>
            </a:r>
            <a:r>
              <a:rPr lang="zh-TW" altLang="en-US" sz="2000" smtClean="0">
                <a:latin typeface="Microsoft JhengHei"/>
                <a:ea typeface="Microsoft JhengHei"/>
              </a:rPr>
              <a:t>時，成功後完整取代舊 </a:t>
            </a:r>
            <a:r>
              <a:rPr lang="en-US" altLang="zh-TW" sz="2000" smtClean="0">
                <a:latin typeface="Microsoft JhengHei"/>
                <a:ea typeface="Microsoft JhengHei"/>
              </a:rPr>
              <a:t>Map
• </a:t>
            </a:r>
            <a:r>
              <a:rPr lang="zh-TW" altLang="en-US" sz="2000" smtClean="0">
                <a:latin typeface="Microsoft JhengHei"/>
                <a:ea typeface="Microsoft JhengHei"/>
              </a:rPr>
              <a:t>匯入失敗保留上一份有效資料，不清空目前中文片名
</a:t>
            </a:r>
            <a:r>
              <a:rPr lang="en-US" altLang="zh-TW" sz="2000" smtClean="0">
                <a:latin typeface="Microsoft JhengHei"/>
                <a:ea typeface="Microsoft JhengHei"/>
              </a:rPr>
              <a:t>• </a:t>
            </a:r>
            <a:r>
              <a:rPr lang="zh-TW" altLang="en-US" sz="2000" smtClean="0">
                <a:latin typeface="Microsoft JhengHei"/>
                <a:ea typeface="Microsoft JhengHei"/>
              </a:rPr>
              <a:t>更新後立即套用 </a:t>
            </a:r>
            <a:r>
              <a:rPr lang="en-US" altLang="zh-TW" sz="2000" smtClean="0">
                <a:latin typeface="Microsoft JhengHei"/>
                <a:ea typeface="Microsoft JhengHei"/>
              </a:rPr>
              <a:t>Schedule</a:t>
            </a:r>
            <a:r>
              <a:rPr lang="zh-TW" altLang="en-US" sz="2000" smtClean="0">
                <a:latin typeface="Microsoft JhengHei"/>
                <a:ea typeface="Microsoft JhengHei"/>
              </a:rPr>
              <a:t>、</a:t>
            </a:r>
            <a:r>
              <a:rPr lang="en-US" altLang="zh-TW" sz="2000" smtClean="0">
                <a:latin typeface="Microsoft JhengHei"/>
                <a:ea typeface="Microsoft JhengHei"/>
              </a:rPr>
              <a:t>Next Movie</a:t>
            </a:r>
            <a:r>
              <a:rPr lang="zh-TW" altLang="en-US" sz="2000" smtClean="0">
                <a:latin typeface="Microsoft JhengHei"/>
                <a:ea typeface="Microsoft JhengHei"/>
              </a:rPr>
              <a:t>、</a:t>
            </a:r>
            <a:r>
              <a:rPr lang="en-US" altLang="zh-TW" sz="2000" smtClean="0">
                <a:latin typeface="Microsoft JhengHei"/>
                <a:ea typeface="Microsoft JhengHei"/>
              </a:rPr>
              <a:t>Alarm Modal </a:t>
            </a:r>
            <a:r>
              <a:rPr lang="zh-TW" altLang="en-US" sz="2000" smtClean="0">
                <a:latin typeface="Microsoft JhengHei"/>
                <a:ea typeface="Microsoft JhengHei"/>
              </a:rPr>
              <a:t>與搜尋
</a:t>
            </a:r>
            <a:r>
              <a:rPr lang="en-US" altLang="zh-TW" sz="2000" smtClean="0">
                <a:latin typeface="Microsoft JhengHei"/>
                <a:ea typeface="Microsoft JhengHei"/>
              </a:rPr>
              <a:t>• </a:t>
            </a:r>
            <a:r>
              <a:rPr lang="zh-TW" altLang="en-US" sz="2000" smtClean="0">
                <a:latin typeface="Microsoft JhengHei"/>
                <a:ea typeface="Microsoft JhengHei"/>
              </a:rPr>
              <a:t>「清除 </a:t>
            </a:r>
            <a:r>
              <a:rPr lang="en-US" altLang="zh-TW" sz="2000" smtClean="0">
                <a:latin typeface="Microsoft JhengHei"/>
                <a:ea typeface="Microsoft JhengHei"/>
              </a:rPr>
              <a:t>DCP </a:t>
            </a:r>
            <a:r>
              <a:rPr lang="zh-TW" altLang="en-US" sz="2000" smtClean="0">
                <a:latin typeface="Microsoft JhengHei"/>
                <a:ea typeface="Microsoft JhengHei"/>
              </a:rPr>
              <a:t>資料」可恢復顯示原始英文片名，不刪除場次</a:t>
            </a:r>
            <a:endParaRPr lang="zh-TW" altLang="en-US" sz="2000" dirty="0">
              <a:latin typeface="Microsoft JhengHei"/>
              <a:ea typeface="Microsoft JhengHei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3E8AE919-3F8E-4CBA-923C-7A8CBED34249}" type="slidenum">
              <a:rPr lang="zh-TW" altLang="en-US" smtClean="0">
                <a:solidFill>
                  <a:schemeClr val="bg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pPr algn="ctr"/>
              <a:t>10</a:t>
            </a:fld>
            <a:endParaRPr lang="zh-TW" altLang="en-US" sz="1050" dirty="0">
              <a:solidFill>
                <a:schemeClr val="bg1"/>
              </a:solidFill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25390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b="1" smtClean="0">
                <a:latin typeface="Microsoft JhengHei"/>
                <a:ea typeface="Microsoft JhengHei"/>
              </a:rPr>
              <a:t>場次列表操作</a:t>
            </a:r>
            <a:endParaRPr lang="zh-TW" altLang="en-US" sz="2800" b="1" dirty="0">
              <a:latin typeface="Microsoft JhengHei"/>
              <a:ea typeface="Microsoft JhengHei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altLang="zh-TW" sz="2000" smtClean="0">
                <a:latin typeface="Microsoft JhengHei"/>
                <a:ea typeface="Microsoft JhengHei"/>
              </a:rPr>
              <a:t>• </a:t>
            </a:r>
            <a:r>
              <a:rPr lang="zh-TW" altLang="en-US" sz="2000" smtClean="0">
                <a:latin typeface="Microsoft JhengHei"/>
                <a:ea typeface="Microsoft JhengHei"/>
              </a:rPr>
              <a:t>日期：自動顯示目前營運日，也可手動切換整週日期
</a:t>
            </a:r>
            <a:r>
              <a:rPr lang="en-US" altLang="zh-TW" sz="2000" smtClean="0">
                <a:latin typeface="Microsoft JhengHei"/>
                <a:ea typeface="Microsoft JhengHei"/>
              </a:rPr>
              <a:t>• </a:t>
            </a:r>
            <a:r>
              <a:rPr lang="zh-TW" altLang="en-US" sz="2000" smtClean="0">
                <a:latin typeface="Microsoft JhengHei"/>
                <a:ea typeface="Microsoft JhengHei"/>
              </a:rPr>
              <a:t>搜尋：可輸入電影、影廳、語言或規格
</a:t>
            </a:r>
            <a:r>
              <a:rPr lang="en-US" altLang="zh-TW" sz="2000" smtClean="0">
                <a:latin typeface="Microsoft JhengHei"/>
                <a:ea typeface="Microsoft JhengHei"/>
              </a:rPr>
              <a:t>• </a:t>
            </a:r>
            <a:r>
              <a:rPr lang="zh-TW" altLang="en-US" sz="2000" smtClean="0">
                <a:latin typeface="Microsoft JhengHei"/>
                <a:ea typeface="Microsoft JhengHei"/>
              </a:rPr>
              <a:t>篩選：影廳、語言、規格與播放狀態可組合使用
</a:t>
            </a:r>
            <a:r>
              <a:rPr lang="en-US" altLang="zh-TW" sz="2000" smtClean="0">
                <a:latin typeface="Microsoft JhengHei"/>
                <a:ea typeface="Microsoft JhengHei"/>
              </a:rPr>
              <a:t>• </a:t>
            </a:r>
            <a:r>
              <a:rPr lang="zh-TW" altLang="en-US" sz="2000" smtClean="0">
                <a:latin typeface="Microsoft JhengHei"/>
                <a:ea typeface="Microsoft JhengHei"/>
              </a:rPr>
              <a:t>狀態：等待中、播放中、已播完皆依實際系統時間更新
</a:t>
            </a:r>
            <a:r>
              <a:rPr lang="en-US" altLang="zh-TW" sz="2000" smtClean="0">
                <a:latin typeface="Microsoft JhengHei"/>
                <a:ea typeface="Microsoft JhengHei"/>
              </a:rPr>
              <a:t>• LIVE</a:t>
            </a:r>
            <a:r>
              <a:rPr lang="zh-TW" altLang="en-US" sz="2000" smtClean="0">
                <a:latin typeface="Microsoft JhengHei"/>
                <a:ea typeface="Microsoft JhengHei"/>
              </a:rPr>
              <a:t>、</a:t>
            </a:r>
            <a:r>
              <a:rPr lang="en-US" altLang="zh-TW" sz="2000" smtClean="0">
                <a:latin typeface="Microsoft JhengHei"/>
                <a:ea typeface="Microsoft JhengHei"/>
              </a:rPr>
              <a:t>DIG SPECIAL</a:t>
            </a:r>
            <a:r>
              <a:rPr lang="zh-TW" altLang="en-US" sz="2000" smtClean="0">
                <a:latin typeface="Microsoft JhengHei"/>
                <a:ea typeface="Microsoft JhengHei"/>
              </a:rPr>
              <a:t>、</a:t>
            </a:r>
            <a:r>
              <a:rPr lang="en-US" altLang="zh-TW" sz="2000" smtClean="0">
                <a:latin typeface="Microsoft JhengHei"/>
                <a:ea typeface="Microsoft JhengHei"/>
              </a:rPr>
              <a:t>TITAN</a:t>
            </a:r>
            <a:r>
              <a:rPr lang="zh-TW" altLang="en-US" sz="2000" smtClean="0">
                <a:latin typeface="Microsoft JhengHei"/>
                <a:ea typeface="Microsoft JhengHei"/>
              </a:rPr>
              <a:t>、</a:t>
            </a:r>
            <a:r>
              <a:rPr lang="en-US" altLang="zh-TW" sz="2000" smtClean="0">
                <a:latin typeface="Microsoft JhengHei"/>
                <a:ea typeface="Microsoft JhengHei"/>
              </a:rPr>
              <a:t>IMAX</a:t>
            </a:r>
            <a:r>
              <a:rPr lang="zh-TW" altLang="en-US" sz="2000" smtClean="0">
                <a:latin typeface="Microsoft JhengHei"/>
                <a:ea typeface="Microsoft JhengHei"/>
              </a:rPr>
              <a:t>、</a:t>
            </a:r>
            <a:r>
              <a:rPr lang="en-US" altLang="zh-TW" sz="2000" smtClean="0">
                <a:latin typeface="Microsoft JhengHei"/>
                <a:ea typeface="Microsoft JhengHei"/>
              </a:rPr>
              <a:t>3D </a:t>
            </a:r>
            <a:r>
              <a:rPr lang="zh-TW" altLang="en-US" sz="2000" smtClean="0">
                <a:latin typeface="Microsoft JhengHei"/>
                <a:ea typeface="Microsoft JhengHei"/>
              </a:rPr>
              <a:t>等使用不同 </a:t>
            </a:r>
            <a:r>
              <a:rPr lang="en-US" altLang="zh-TW" sz="2000" smtClean="0">
                <a:latin typeface="Microsoft JhengHei"/>
                <a:ea typeface="Microsoft JhengHei"/>
              </a:rPr>
              <a:t>Badge </a:t>
            </a:r>
            <a:r>
              <a:rPr lang="zh-TW" altLang="en-US" sz="2000" smtClean="0">
                <a:latin typeface="Microsoft JhengHei"/>
                <a:ea typeface="Microsoft JhengHei"/>
              </a:rPr>
              <a:t>顏色
</a:t>
            </a:r>
            <a:r>
              <a:rPr lang="en-US" altLang="zh-TW" sz="2000" smtClean="0">
                <a:latin typeface="Microsoft JhengHei"/>
                <a:ea typeface="Microsoft JhengHei"/>
              </a:rPr>
              <a:t>• </a:t>
            </a:r>
            <a:r>
              <a:rPr lang="zh-TW" altLang="en-US" sz="2000" smtClean="0">
                <a:latin typeface="Microsoft JhengHei"/>
                <a:ea typeface="Microsoft JhengHei"/>
              </a:rPr>
              <a:t>搜尋與篩選只影響列表，不影響 </a:t>
            </a:r>
            <a:r>
              <a:rPr lang="en-US" altLang="zh-TW" sz="2000" smtClean="0">
                <a:latin typeface="Microsoft JhengHei"/>
                <a:ea typeface="Microsoft JhengHei"/>
              </a:rPr>
              <a:t>Next Movie </a:t>
            </a:r>
            <a:r>
              <a:rPr lang="zh-TW" altLang="en-US" sz="2000" smtClean="0">
                <a:latin typeface="Microsoft JhengHei"/>
                <a:ea typeface="Microsoft JhengHei"/>
              </a:rPr>
              <a:t>與警報</a:t>
            </a:r>
            <a:endParaRPr lang="zh-TW" altLang="en-US" sz="2000" dirty="0">
              <a:latin typeface="Microsoft JhengHei"/>
              <a:ea typeface="Microsoft JhengHei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3E8AE919-3F8E-4CBA-923C-7A8CBED34249}" type="slidenum">
              <a:rPr lang="zh-TW" altLang="en-US" smtClean="0">
                <a:solidFill>
                  <a:schemeClr val="bg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pPr algn="ctr"/>
              <a:t>11</a:t>
            </a:fld>
            <a:endParaRPr lang="zh-TW" altLang="en-US" sz="1050" dirty="0">
              <a:solidFill>
                <a:schemeClr val="bg1"/>
              </a:solidFill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169847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b="1" smtClean="0">
                <a:latin typeface="Microsoft JhengHei"/>
                <a:ea typeface="Microsoft JhengHei"/>
              </a:rPr>
              <a:t>Next Movie </a:t>
            </a:r>
            <a:r>
              <a:rPr lang="zh-TW" altLang="en-US" sz="2800" b="1" smtClean="0">
                <a:latin typeface="Microsoft JhengHei"/>
                <a:ea typeface="Microsoft JhengHei"/>
              </a:rPr>
              <a:t>與倒數</a:t>
            </a:r>
            <a:endParaRPr lang="zh-TW" altLang="en-US" sz="2800" b="1" dirty="0">
              <a:latin typeface="Microsoft JhengHei"/>
              <a:ea typeface="Microsoft JhengHei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altLang="zh-TW" sz="2000" smtClean="0">
                <a:latin typeface="Microsoft JhengHei"/>
                <a:ea typeface="Microsoft JhengHei"/>
              </a:rPr>
              <a:t>• </a:t>
            </a:r>
            <a:r>
              <a:rPr lang="zh-TW" altLang="en-US" sz="2000" smtClean="0">
                <a:latin typeface="Microsoft JhengHei"/>
                <a:ea typeface="Microsoft JhengHei"/>
              </a:rPr>
              <a:t>自動選出完整場次中下一個尚未開播的時間群組
</a:t>
            </a:r>
            <a:r>
              <a:rPr lang="en-US" altLang="zh-TW" sz="2000" smtClean="0">
                <a:latin typeface="Microsoft JhengHei"/>
                <a:ea typeface="Microsoft JhengHei"/>
              </a:rPr>
              <a:t>• </a:t>
            </a:r>
            <a:r>
              <a:rPr lang="zh-TW" altLang="en-US" sz="2000" smtClean="0">
                <a:latin typeface="Microsoft JhengHei"/>
                <a:ea typeface="Microsoft JhengHei"/>
              </a:rPr>
              <a:t>顯示實際日期、片名、影廳、語言、規格與開演時間
</a:t>
            </a:r>
            <a:r>
              <a:rPr lang="en-US" altLang="zh-TW" sz="2000" smtClean="0">
                <a:latin typeface="Microsoft JhengHei"/>
                <a:ea typeface="Microsoft JhengHei"/>
              </a:rPr>
              <a:t>• </a:t>
            </a:r>
            <a:r>
              <a:rPr lang="zh-TW" altLang="en-US" sz="2000" smtClean="0">
                <a:latin typeface="Microsoft JhengHei"/>
                <a:ea typeface="Microsoft JhengHei"/>
              </a:rPr>
              <a:t>同時間多場會一起顯示，但日期、時間與倒數只顯示一次
</a:t>
            </a:r>
            <a:r>
              <a:rPr lang="en-US" altLang="zh-TW" sz="2000" smtClean="0">
                <a:latin typeface="Microsoft JhengHei"/>
                <a:ea typeface="Microsoft JhengHei"/>
              </a:rPr>
              <a:t>• </a:t>
            </a:r>
            <a:r>
              <a:rPr lang="zh-TW" altLang="en-US" sz="2000" smtClean="0">
                <a:latin typeface="Microsoft JhengHei"/>
                <a:ea typeface="Microsoft JhengHei"/>
              </a:rPr>
              <a:t>倒數使用實際 </a:t>
            </a:r>
            <a:r>
              <a:rPr lang="en-US" altLang="zh-TW" sz="2000" smtClean="0">
                <a:latin typeface="Microsoft JhengHei"/>
                <a:ea typeface="Microsoft JhengHei"/>
              </a:rPr>
              <a:t>Date </a:t>
            </a:r>
            <a:r>
              <a:rPr lang="zh-TW" altLang="en-US" sz="2000" smtClean="0">
                <a:latin typeface="Microsoft JhengHei"/>
                <a:ea typeface="Microsoft JhengHei"/>
              </a:rPr>
              <a:t>差值，不因視窗最小化而停止
</a:t>
            </a:r>
            <a:r>
              <a:rPr lang="en-US" altLang="zh-TW" sz="2000" smtClean="0">
                <a:latin typeface="Microsoft JhengHei"/>
                <a:ea typeface="Microsoft JhengHei"/>
              </a:rPr>
              <a:t>• </a:t>
            </a:r>
            <a:r>
              <a:rPr lang="zh-TW" altLang="en-US" sz="2000" smtClean="0">
                <a:latin typeface="Microsoft JhengHei"/>
                <a:ea typeface="Microsoft JhengHei"/>
              </a:rPr>
              <a:t>到達零秒後立即切換下一個有效群組
</a:t>
            </a:r>
            <a:r>
              <a:rPr lang="en-US" altLang="zh-TW" sz="2000" smtClean="0">
                <a:latin typeface="Microsoft JhengHei"/>
                <a:ea typeface="Microsoft JhengHei"/>
              </a:rPr>
              <a:t>• </a:t>
            </a:r>
            <a:r>
              <a:rPr lang="zh-TW" altLang="en-US" sz="2000" smtClean="0">
                <a:latin typeface="Microsoft JhengHei"/>
                <a:ea typeface="Microsoft JhengHei"/>
              </a:rPr>
              <a:t>不受搜尋、影廳、語言、規格或狀態篩選影響</a:t>
            </a:r>
            <a:endParaRPr lang="zh-TW" altLang="en-US" sz="2000" dirty="0">
              <a:latin typeface="Microsoft JhengHei"/>
              <a:ea typeface="Microsoft JhengHei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3E8AE919-3F8E-4CBA-923C-7A8CBED34249}" type="slidenum">
              <a:rPr lang="zh-TW" altLang="en-US" smtClean="0">
                <a:solidFill>
                  <a:schemeClr val="bg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pPr algn="ctr"/>
              <a:t>12</a:t>
            </a:fld>
            <a:endParaRPr lang="zh-TW" altLang="en-US" sz="1050" dirty="0">
              <a:solidFill>
                <a:schemeClr val="bg1"/>
              </a:solidFill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625005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b="1" smtClean="0">
                <a:latin typeface="Microsoft JhengHei"/>
                <a:ea typeface="Microsoft JhengHei"/>
              </a:rPr>
              <a:t>Next Movie </a:t>
            </a:r>
            <a:r>
              <a:rPr lang="zh-TW" altLang="en-US" sz="2800" b="1" smtClean="0">
                <a:latin typeface="Microsoft JhengHei"/>
                <a:ea typeface="Microsoft JhengHei"/>
              </a:rPr>
              <a:t>判定示意圖</a:t>
            </a:r>
            <a:endParaRPr lang="zh-TW" altLang="en-US" sz="2800" b="1" dirty="0">
              <a:latin typeface="Microsoft JhengHei"/>
              <a:ea typeface="Microsoft JhengHei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3E8AE919-3F8E-4CBA-923C-7A8CBED34249}" type="slidenum">
              <a:rPr lang="zh-TW" altLang="en-US" smtClean="0">
                <a:solidFill>
                  <a:schemeClr val="bg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pPr algn="ctr"/>
              <a:t>13</a:t>
            </a:fld>
            <a:endParaRPr lang="zh-TW" altLang="en-US" sz="1050" dirty="0">
              <a:solidFill>
                <a:schemeClr val="bg1"/>
              </a:solidFill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圓角矩形 5"/>
          <p:cNvSpPr/>
          <p:nvPr/>
        </p:nvSpPr>
        <p:spPr>
          <a:xfrm>
            <a:off x="698500" y="1778000"/>
            <a:ext cx="1905000" cy="1206500"/>
          </a:xfrm>
          <a:prstGeom prst="roundRect">
            <a:avLst/>
          </a:prstGeom>
          <a:solidFill>
            <a:srgbClr val="00749F"/>
          </a:solidFill>
          <a:ln w="19050">
            <a:solidFill>
              <a:srgbClr val="807F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smtClean="0">
                <a:solidFill>
                  <a:srgbClr val="FFFFFF"/>
                </a:solidFill>
                <a:latin typeface="Microsoft JhengHei"/>
                <a:ea typeface="Microsoft JhengHei"/>
              </a:rPr>
              <a:t>完整</a:t>
            </a:r>
          </a:p>
          <a:p>
            <a:pPr algn="ctr"/>
            <a:r>
              <a:rPr lang="en-US" altLang="zh-TW" b="1" smtClean="0">
                <a:solidFill>
                  <a:srgbClr val="FFFFFF"/>
                </a:solidFill>
                <a:latin typeface="Microsoft JhengHei"/>
                <a:ea typeface="Microsoft JhengHei"/>
              </a:rPr>
              <a:t>state.sessions</a:t>
            </a:r>
            <a:endParaRPr lang="zh-TW" altLang="en-US" b="1">
              <a:solidFill>
                <a:srgbClr val="FFFFFF"/>
              </a:solidFill>
              <a:latin typeface="Microsoft JhengHei"/>
              <a:ea typeface="Microsoft JhengHei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2730500" y="2133600"/>
            <a:ext cx="635000" cy="461665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zh-TW" altLang="en-US" sz="2400" b="1" smtClean="0">
                <a:solidFill>
                  <a:srgbClr val="006C80"/>
                </a:solidFill>
                <a:latin typeface="Microsoft JhengHei"/>
                <a:ea typeface="Microsoft JhengHei"/>
              </a:rPr>
              <a:t>→</a:t>
            </a:r>
            <a:endParaRPr lang="zh-TW" altLang="en-US" sz="2400" b="1">
              <a:solidFill>
                <a:srgbClr val="006C80"/>
              </a:solidFill>
              <a:latin typeface="Microsoft JhengHei"/>
              <a:ea typeface="Microsoft JhengHei"/>
            </a:endParaRPr>
          </a:p>
        </p:txBody>
      </p:sp>
      <p:sp>
        <p:nvSpPr>
          <p:cNvPr id="8" name="圓角矩形 7"/>
          <p:cNvSpPr/>
          <p:nvPr/>
        </p:nvSpPr>
        <p:spPr>
          <a:xfrm>
            <a:off x="3365500" y="1778000"/>
            <a:ext cx="2159000" cy="1206500"/>
          </a:xfrm>
          <a:prstGeom prst="roundRect">
            <a:avLst/>
          </a:prstGeom>
          <a:solidFill>
            <a:srgbClr val="0066CC"/>
          </a:solidFill>
          <a:ln w="19050">
            <a:solidFill>
              <a:srgbClr val="807F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smtClean="0">
                <a:solidFill>
                  <a:srgbClr val="FFFFFF"/>
                </a:solidFill>
                <a:latin typeface="Microsoft JhengHei"/>
                <a:ea typeface="Microsoft JhengHei"/>
              </a:rPr>
              <a:t>依完整日期時間排序</a:t>
            </a:r>
          </a:p>
          <a:p>
            <a:pPr algn="ctr"/>
            <a:r>
              <a:rPr lang="zh-TW" altLang="en-US" sz="1600" b="1" smtClean="0">
                <a:solidFill>
                  <a:srgbClr val="FFFFFF"/>
                </a:solidFill>
                <a:latin typeface="Microsoft JhengHei"/>
                <a:ea typeface="Microsoft JhengHei"/>
              </a:rPr>
              <a:t>相同時間組成群組</a:t>
            </a:r>
            <a:endParaRPr lang="zh-TW" altLang="en-US" sz="1600" b="1">
              <a:solidFill>
                <a:srgbClr val="FFFFFF"/>
              </a:solidFill>
              <a:latin typeface="Microsoft JhengHei"/>
              <a:ea typeface="Microsoft JhengHei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5651500" y="2133600"/>
            <a:ext cx="635000" cy="461665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zh-TW" altLang="en-US" sz="2400" b="1" smtClean="0">
                <a:solidFill>
                  <a:srgbClr val="006C80"/>
                </a:solidFill>
                <a:latin typeface="Microsoft JhengHei"/>
                <a:ea typeface="Microsoft JhengHei"/>
              </a:rPr>
              <a:t>→</a:t>
            </a:r>
            <a:endParaRPr lang="zh-TW" altLang="en-US" sz="2400" b="1">
              <a:solidFill>
                <a:srgbClr val="006C80"/>
              </a:solidFill>
              <a:latin typeface="Microsoft JhengHei"/>
              <a:ea typeface="Microsoft JhengHei"/>
            </a:endParaRPr>
          </a:p>
        </p:txBody>
      </p:sp>
      <p:sp>
        <p:nvSpPr>
          <p:cNvPr id="10" name="圓角矩形 9"/>
          <p:cNvSpPr/>
          <p:nvPr/>
        </p:nvSpPr>
        <p:spPr>
          <a:xfrm>
            <a:off x="6286500" y="1587500"/>
            <a:ext cx="2159000" cy="1587500"/>
          </a:xfrm>
          <a:prstGeom prst="roundRect">
            <a:avLst/>
          </a:prstGeom>
          <a:solidFill>
            <a:srgbClr val="00749F"/>
          </a:solidFill>
          <a:ln w="19050">
            <a:solidFill>
              <a:srgbClr val="807F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b="1" smtClean="0">
                <a:solidFill>
                  <a:srgbClr val="FFFFFF"/>
                </a:solidFill>
                <a:latin typeface="Microsoft JhengHei"/>
                <a:ea typeface="Microsoft JhengHei"/>
              </a:rPr>
              <a:t>NEXT MOVIE</a:t>
            </a:r>
          </a:p>
          <a:p>
            <a:pPr algn="ctr"/>
            <a:r>
              <a:rPr lang="zh-TW" altLang="en-US" sz="1600" b="1" smtClean="0">
                <a:solidFill>
                  <a:srgbClr val="FFFFFF"/>
                </a:solidFill>
                <a:latin typeface="Microsoft JhengHei"/>
                <a:ea typeface="Microsoft JhengHei"/>
              </a:rPr>
              <a:t>日期／時間／倒數</a:t>
            </a:r>
          </a:p>
          <a:p>
            <a:pPr algn="ctr"/>
            <a:r>
              <a:rPr lang="zh-TW" altLang="en-US" sz="1600" b="1" smtClean="0">
                <a:solidFill>
                  <a:srgbClr val="FFFFFF"/>
                </a:solidFill>
                <a:latin typeface="Microsoft JhengHei"/>
                <a:ea typeface="Microsoft JhengHei"/>
              </a:rPr>
              <a:t>片名／廳別／規格</a:t>
            </a:r>
            <a:endParaRPr lang="zh-TW" altLang="en-US" sz="1600" b="1">
              <a:solidFill>
                <a:srgbClr val="FFFFFF"/>
              </a:solidFill>
              <a:latin typeface="Microsoft JhengHei"/>
              <a:ea typeface="Microsoft JhengHei"/>
            </a:endParaRPr>
          </a:p>
        </p:txBody>
      </p:sp>
      <p:sp>
        <p:nvSpPr>
          <p:cNvPr id="11" name="圓角矩形 10"/>
          <p:cNvSpPr/>
          <p:nvPr/>
        </p:nvSpPr>
        <p:spPr>
          <a:xfrm>
            <a:off x="2603500" y="3619500"/>
            <a:ext cx="3937000" cy="698500"/>
          </a:xfrm>
          <a:prstGeom prst="roundRect">
            <a:avLst/>
          </a:prstGeom>
          <a:solidFill>
            <a:srgbClr val="595959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500" b="1" smtClean="0">
                <a:solidFill>
                  <a:srgbClr val="FFFFFF"/>
                </a:solidFill>
                <a:latin typeface="Microsoft JhengHei"/>
                <a:ea typeface="Microsoft JhengHei"/>
              </a:rPr>
              <a:t>搜尋與篩選只影響列表，不影響 </a:t>
            </a:r>
            <a:r>
              <a:rPr lang="en-US" altLang="zh-TW" sz="1500" b="1" smtClean="0">
                <a:solidFill>
                  <a:srgbClr val="FFFFFF"/>
                </a:solidFill>
                <a:latin typeface="Microsoft JhengHei"/>
                <a:ea typeface="Microsoft JhengHei"/>
              </a:rPr>
              <a:t>Next Movie</a:t>
            </a:r>
            <a:endParaRPr lang="zh-TW" altLang="en-US" sz="1500" b="1">
              <a:solidFill>
                <a:srgbClr val="FFFFFF"/>
              </a:solidFill>
              <a:latin typeface="Microsoft JhengHei"/>
              <a:ea typeface="Microsoft JhengHei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4254500" y="3073400"/>
            <a:ext cx="762000" cy="430887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zh-TW" altLang="en-US" sz="2200" b="1" smtClean="0">
                <a:solidFill>
                  <a:srgbClr val="FF0000"/>
                </a:solidFill>
                <a:latin typeface="Microsoft JhengHei"/>
                <a:ea typeface="Microsoft JhengHei"/>
              </a:rPr>
              <a:t>✕</a:t>
            </a:r>
            <a:endParaRPr lang="zh-TW" altLang="en-US" sz="2200" b="1">
              <a:solidFill>
                <a:srgbClr val="FF0000"/>
              </a:solidFill>
              <a:latin typeface="Microsoft JhengHei"/>
              <a:ea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7781863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b="1" smtClean="0">
                <a:latin typeface="Microsoft JhengHei"/>
                <a:ea typeface="Microsoft JhengHei"/>
              </a:rPr>
              <a:t>開播警報與背景提醒</a:t>
            </a:r>
            <a:endParaRPr lang="zh-TW" altLang="en-US" sz="2800" b="1" dirty="0">
              <a:latin typeface="Microsoft JhengHei"/>
              <a:ea typeface="Microsoft JhengHei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3E8AE919-3F8E-4CBA-923C-7A8CBED34249}" type="slidenum">
              <a:rPr lang="zh-TW" altLang="en-US" smtClean="0">
                <a:solidFill>
                  <a:schemeClr val="bg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pPr algn="ctr"/>
              <a:t>14</a:t>
            </a:fld>
            <a:endParaRPr lang="zh-TW" altLang="en-US" sz="1050" dirty="0">
              <a:solidFill>
                <a:schemeClr val="bg1"/>
              </a:solidFill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6" name="內容版面配置區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5334000" y="1270000"/>
            <a:ext cx="3238500" cy="201850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700"/>
              </a:spcAft>
            </a:pPr>
            <a:r>
              <a:rPr lang="en-US" altLang="zh-TW" sz="1600" smtClean="0">
                <a:latin typeface="Microsoft JhengHei"/>
                <a:ea typeface="Microsoft JhengHei"/>
              </a:rPr>
              <a:t>• </a:t>
            </a:r>
            <a:r>
              <a:rPr lang="zh-TW" altLang="en-US" sz="1600" smtClean="0">
                <a:latin typeface="Microsoft JhengHei"/>
                <a:ea typeface="Microsoft JhengHei"/>
              </a:rPr>
              <a:t>到點自動顯示 </a:t>
            </a:r>
            <a:r>
              <a:rPr lang="en-US" altLang="zh-TW" sz="1600" smtClean="0">
                <a:latin typeface="Microsoft JhengHei"/>
                <a:ea typeface="Microsoft JhengHei"/>
              </a:rPr>
              <a:t>Alarm Modal
• </a:t>
            </a:r>
            <a:r>
              <a:rPr lang="zh-TW" altLang="en-US" sz="1600" smtClean="0">
                <a:latin typeface="Microsoft JhengHei"/>
                <a:ea typeface="Microsoft JhengHei"/>
              </a:rPr>
              <a:t>最小化時自動還原並置頂
</a:t>
            </a:r>
            <a:r>
              <a:rPr lang="en-US" altLang="zh-TW" sz="1600" smtClean="0">
                <a:latin typeface="Microsoft JhengHei"/>
                <a:ea typeface="Microsoft JhengHei"/>
              </a:rPr>
              <a:t>• </a:t>
            </a:r>
            <a:r>
              <a:rPr lang="zh-TW" altLang="en-US" sz="1600" smtClean="0">
                <a:latin typeface="Microsoft JhengHei"/>
                <a:ea typeface="Microsoft JhengHei"/>
              </a:rPr>
              <a:t>同時間多場只觸發一次
</a:t>
            </a:r>
            <a:r>
              <a:rPr lang="en-US" altLang="zh-TW" sz="1600" smtClean="0">
                <a:latin typeface="Microsoft JhengHei"/>
                <a:ea typeface="Microsoft JhengHei"/>
              </a:rPr>
              <a:t>• alarm.wav </a:t>
            </a:r>
            <a:r>
              <a:rPr lang="zh-TW" altLang="en-US" sz="1600" smtClean="0">
                <a:latin typeface="Microsoft JhengHei"/>
                <a:ea typeface="Microsoft JhengHei"/>
              </a:rPr>
              <a:t>自動循環播放
</a:t>
            </a:r>
            <a:r>
              <a:rPr lang="en-US" altLang="zh-TW" sz="1600" smtClean="0">
                <a:latin typeface="Microsoft JhengHei"/>
                <a:ea typeface="Microsoft JhengHei"/>
              </a:rPr>
              <a:t>• </a:t>
            </a:r>
            <a:r>
              <a:rPr lang="zh-TW" altLang="en-US" sz="1600" smtClean="0">
                <a:latin typeface="Microsoft JhengHei"/>
                <a:ea typeface="Microsoft JhengHei"/>
              </a:rPr>
              <a:t>停止警報只停止目前場次
</a:t>
            </a:r>
            <a:r>
              <a:rPr lang="en-US" altLang="zh-TW" sz="1600" smtClean="0">
                <a:latin typeface="Microsoft JhengHei"/>
                <a:ea typeface="Microsoft JhengHei"/>
              </a:rPr>
              <a:t>• </a:t>
            </a:r>
            <a:r>
              <a:rPr lang="zh-TW" altLang="en-US" sz="1600" smtClean="0">
                <a:latin typeface="Microsoft JhengHei"/>
                <a:ea typeface="Microsoft JhengHei"/>
              </a:rPr>
              <a:t>後續場次仍會繼續排程</a:t>
            </a:r>
            <a:endParaRPr lang="zh-TW" altLang="en-US" sz="1600">
              <a:latin typeface="Microsoft JhengHei"/>
              <a:ea typeface="Microsoft JhengHei"/>
            </a:endParaRPr>
          </a:p>
        </p:txBody>
      </p:sp>
      <p:sp>
        <p:nvSpPr>
          <p:cNvPr id="3" name="圓角矩形 2"/>
          <p:cNvSpPr/>
          <p:nvPr/>
        </p:nvSpPr>
        <p:spPr>
          <a:xfrm>
            <a:off x="952500" y="1460500"/>
            <a:ext cx="3556000" cy="609600"/>
          </a:xfrm>
          <a:prstGeom prst="roundRect">
            <a:avLst/>
          </a:prstGeom>
          <a:solidFill>
            <a:srgbClr val="00749F"/>
          </a:solidFill>
          <a:ln>
            <a:solidFill>
              <a:srgbClr val="807F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smtClean="0">
                <a:solidFill>
                  <a:srgbClr val="FFFFFF"/>
                </a:solidFill>
                <a:latin typeface="Microsoft JhengHei"/>
                <a:ea typeface="Microsoft JhengHei"/>
              </a:rPr>
              <a:t>Electron Main Process </a:t>
            </a:r>
            <a:r>
              <a:rPr lang="zh-TW" altLang="en-US" b="1" smtClean="0">
                <a:solidFill>
                  <a:srgbClr val="FFFFFF"/>
                </a:solidFill>
                <a:latin typeface="Microsoft JhengHei"/>
                <a:ea typeface="Microsoft JhengHei"/>
              </a:rPr>
              <a:t>背景排程</a:t>
            </a:r>
            <a:endParaRPr lang="zh-TW" altLang="en-US" b="1">
              <a:solidFill>
                <a:srgbClr val="FFFFFF"/>
              </a:solidFill>
              <a:latin typeface="Microsoft JhengHei"/>
              <a:ea typeface="Microsoft JhengHei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2349500" y="2108200"/>
            <a:ext cx="762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TW" altLang="en-US" sz="2200" smtClean="0"/>
              <a:t>↓</a:t>
            </a:r>
            <a:endParaRPr lang="zh-TW" altLang="en-US" sz="2200"/>
          </a:p>
        </p:txBody>
      </p:sp>
      <p:sp>
        <p:nvSpPr>
          <p:cNvPr id="8" name="圓角矩形 7"/>
          <p:cNvSpPr/>
          <p:nvPr/>
        </p:nvSpPr>
        <p:spPr>
          <a:xfrm>
            <a:off x="952500" y="2565400"/>
            <a:ext cx="3556000" cy="609600"/>
          </a:xfrm>
          <a:prstGeom prst="roundRect">
            <a:avLst/>
          </a:prstGeom>
          <a:solidFill>
            <a:srgbClr val="00749F"/>
          </a:solidFill>
          <a:ln>
            <a:solidFill>
              <a:srgbClr val="807F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smtClean="0">
                <a:solidFill>
                  <a:srgbClr val="FFFFFF"/>
                </a:solidFill>
                <a:latin typeface="Microsoft JhengHei"/>
                <a:ea typeface="Microsoft JhengHei"/>
              </a:rPr>
              <a:t>視窗自動還原、置頂與聚焦</a:t>
            </a:r>
            <a:endParaRPr lang="zh-TW" altLang="en-US" b="1">
              <a:solidFill>
                <a:srgbClr val="FFFFFF"/>
              </a:solidFill>
              <a:latin typeface="Microsoft JhengHei"/>
              <a:ea typeface="Microsoft JhengHei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2349500" y="3213100"/>
            <a:ext cx="762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TW" altLang="en-US" sz="2200" smtClean="0"/>
              <a:t>↓</a:t>
            </a:r>
            <a:endParaRPr lang="zh-TW" altLang="en-US" sz="2200"/>
          </a:p>
        </p:txBody>
      </p:sp>
      <p:sp>
        <p:nvSpPr>
          <p:cNvPr id="10" name="圓角矩形 9"/>
          <p:cNvSpPr/>
          <p:nvPr/>
        </p:nvSpPr>
        <p:spPr>
          <a:xfrm>
            <a:off x="952500" y="3670300"/>
            <a:ext cx="3556000" cy="609600"/>
          </a:xfrm>
          <a:prstGeom prst="roundRect">
            <a:avLst/>
          </a:prstGeom>
          <a:solidFill>
            <a:srgbClr val="00749F"/>
          </a:solidFill>
          <a:ln>
            <a:solidFill>
              <a:srgbClr val="807F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smtClean="0">
                <a:solidFill>
                  <a:srgbClr val="FFFFFF"/>
                </a:solidFill>
                <a:latin typeface="Microsoft JhengHei"/>
                <a:ea typeface="Microsoft JhengHei"/>
              </a:rPr>
              <a:t>Alarm Modal </a:t>
            </a:r>
            <a:r>
              <a:rPr lang="zh-TW" altLang="en-US" b="1" smtClean="0">
                <a:solidFill>
                  <a:srgbClr val="FFFFFF"/>
                </a:solidFill>
                <a:latin typeface="Microsoft JhengHei"/>
                <a:ea typeface="Microsoft JhengHei"/>
              </a:rPr>
              <a:t>＋ </a:t>
            </a:r>
            <a:r>
              <a:rPr lang="en-US" altLang="zh-TW" b="1" smtClean="0">
                <a:solidFill>
                  <a:srgbClr val="FFFFFF"/>
                </a:solidFill>
                <a:latin typeface="Microsoft JhengHei"/>
                <a:ea typeface="Microsoft JhengHei"/>
              </a:rPr>
              <a:t>alarm.wav</a:t>
            </a:r>
            <a:endParaRPr lang="zh-TW" altLang="en-US" b="1">
              <a:solidFill>
                <a:srgbClr val="FFFFFF"/>
              </a:solidFill>
              <a:latin typeface="Microsoft JhengHei"/>
              <a:ea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22590080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b="1" smtClean="0">
                <a:latin typeface="Microsoft JhengHei"/>
                <a:ea typeface="Microsoft JhengHei"/>
              </a:rPr>
              <a:t>系統匣與背景常駐</a:t>
            </a:r>
            <a:endParaRPr lang="zh-TW" altLang="en-US" sz="2800" b="1" dirty="0">
              <a:latin typeface="Microsoft JhengHei"/>
              <a:ea typeface="Microsoft JhengHei"/>
            </a:endParaRPr>
          </a:p>
        </p:txBody>
      </p:sp>
      <p:sp>
        <p:nvSpPr>
          <p:cNvPr id="6" name="內容版面配置區 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spcAft>
                <a:spcPts val="800"/>
              </a:spcAft>
              <a:buNone/>
            </a:pPr>
            <a:r>
              <a:rPr lang="zh-TW" altLang="en-US" sz="1800" smtClean="0">
                <a:latin typeface="Microsoft JhengHei"/>
                <a:ea typeface="Microsoft JhengHei"/>
              </a:rPr>
              <a:t>最小化
</a:t>
            </a:r>
            <a:r>
              <a:rPr lang="en-US" altLang="zh-TW" sz="1800" smtClean="0">
                <a:latin typeface="Microsoft JhengHei"/>
                <a:ea typeface="Microsoft JhengHei"/>
              </a:rPr>
              <a:t>• </a:t>
            </a:r>
            <a:r>
              <a:rPr lang="zh-TW" altLang="en-US" sz="1800" smtClean="0">
                <a:latin typeface="Microsoft JhengHei"/>
                <a:ea typeface="Microsoft JhengHei"/>
              </a:rPr>
              <a:t>視窗隱藏到右下角系統匣
</a:t>
            </a:r>
            <a:r>
              <a:rPr lang="en-US" altLang="zh-TW" sz="1800" smtClean="0">
                <a:latin typeface="Microsoft JhengHei"/>
                <a:ea typeface="Microsoft JhengHei"/>
              </a:rPr>
              <a:t>• </a:t>
            </a:r>
            <a:r>
              <a:rPr lang="zh-TW" altLang="en-US" sz="1800" smtClean="0">
                <a:latin typeface="Microsoft JhengHei"/>
                <a:ea typeface="Microsoft JhengHei"/>
              </a:rPr>
              <a:t>雙擊圖示可還原
</a:t>
            </a:r>
            <a:r>
              <a:rPr lang="en-US" altLang="zh-TW" sz="1800" smtClean="0">
                <a:latin typeface="Microsoft JhengHei"/>
                <a:ea typeface="Microsoft JhengHei"/>
              </a:rPr>
              <a:t>• </a:t>
            </a:r>
            <a:r>
              <a:rPr lang="zh-TW" altLang="en-US" sz="1800" smtClean="0">
                <a:latin typeface="Microsoft JhengHei"/>
                <a:ea typeface="Microsoft JhengHei"/>
              </a:rPr>
              <a:t>場次到點仍會跳出提醒
</a:t>
            </a:r>
            <a:r>
              <a:rPr lang="en-US" altLang="zh-TW" sz="1800" smtClean="0">
                <a:latin typeface="Microsoft JhengHei"/>
                <a:ea typeface="Microsoft JhengHei"/>
              </a:rPr>
              <a:t>• </a:t>
            </a:r>
            <a:r>
              <a:rPr lang="zh-TW" altLang="en-US" sz="1800" smtClean="0">
                <a:latin typeface="Microsoft JhengHei"/>
                <a:ea typeface="Microsoft JhengHei"/>
              </a:rPr>
              <a:t>不需要重新點開程式</a:t>
            </a:r>
            <a:endParaRPr lang="zh-TW" altLang="en-US" sz="1800" dirty="0">
              <a:latin typeface="Microsoft JhengHei"/>
              <a:ea typeface="Microsoft JhengHei"/>
            </a:endParaRPr>
          </a:p>
        </p:txBody>
      </p:sp>
      <p:sp>
        <p:nvSpPr>
          <p:cNvPr id="7" name="內容版面配置區 6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spcAft>
                <a:spcPts val="800"/>
              </a:spcAft>
              <a:buNone/>
            </a:pPr>
            <a:r>
              <a:rPr lang="zh-TW" altLang="en-US" sz="1800" smtClean="0">
                <a:latin typeface="Microsoft JhengHei"/>
                <a:ea typeface="Microsoft JhengHei"/>
              </a:rPr>
              <a:t>關閉與重啟
</a:t>
            </a:r>
            <a:r>
              <a:rPr lang="en-US" altLang="zh-TW" sz="1800" smtClean="0">
                <a:latin typeface="Microsoft JhengHei"/>
                <a:ea typeface="Microsoft JhengHei"/>
              </a:rPr>
              <a:t>• </a:t>
            </a:r>
            <a:r>
              <a:rPr lang="zh-TW" altLang="en-US" sz="1800" smtClean="0">
                <a:latin typeface="Microsoft JhengHei"/>
                <a:ea typeface="Microsoft JhengHei"/>
              </a:rPr>
              <a:t>有監控場次時先詢問是否結束
</a:t>
            </a:r>
            <a:r>
              <a:rPr lang="en-US" altLang="zh-TW" sz="1800" smtClean="0">
                <a:latin typeface="Microsoft JhengHei"/>
                <a:ea typeface="Microsoft JhengHei"/>
              </a:rPr>
              <a:t>• </a:t>
            </a:r>
            <a:r>
              <a:rPr lang="zh-TW" altLang="en-US" sz="1800" smtClean="0">
                <a:latin typeface="Microsoft JhengHei"/>
                <a:ea typeface="Microsoft JhengHei"/>
              </a:rPr>
              <a:t>登入啟動只支援安裝版
</a:t>
            </a:r>
            <a:r>
              <a:rPr lang="en-US" altLang="zh-TW" sz="1800" smtClean="0">
                <a:latin typeface="Microsoft JhengHei"/>
                <a:ea typeface="Microsoft JhengHei"/>
              </a:rPr>
              <a:t>• </a:t>
            </a:r>
            <a:r>
              <a:rPr lang="zh-TW" altLang="en-US" sz="1800" smtClean="0">
                <a:latin typeface="Microsoft JhengHei"/>
                <a:ea typeface="Microsoft JhengHei"/>
              </a:rPr>
              <a:t>上次成功場次會安全恢復
</a:t>
            </a:r>
            <a:r>
              <a:rPr lang="en-US" altLang="zh-TW" sz="1800" smtClean="0">
                <a:latin typeface="Microsoft JhengHei"/>
                <a:ea typeface="Microsoft JhengHei"/>
              </a:rPr>
              <a:t>• </a:t>
            </a:r>
            <a:r>
              <a:rPr lang="zh-TW" altLang="en-US" sz="1800" smtClean="0">
                <a:latin typeface="Microsoft JhengHei"/>
                <a:ea typeface="Microsoft JhengHei"/>
              </a:rPr>
              <a:t>週期結束後提醒匯入新檔</a:t>
            </a:r>
            <a:endParaRPr lang="zh-TW" altLang="en-US" sz="1800" dirty="0">
              <a:latin typeface="Microsoft JhengHei"/>
              <a:ea typeface="Microsoft JhengHei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3E8AE919-3F8E-4CBA-923C-7A8CBED34249}" type="slidenum">
              <a:rPr lang="zh-TW" altLang="en-US" smtClean="0">
                <a:solidFill>
                  <a:schemeClr val="bg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pPr algn="ctr"/>
              <a:t>15</a:t>
            </a:fld>
            <a:endParaRPr lang="zh-TW" altLang="en-US" sz="1050" dirty="0">
              <a:solidFill>
                <a:schemeClr val="bg1"/>
              </a:solidFill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348293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b="1" smtClean="0">
                <a:latin typeface="Microsoft JhengHei"/>
                <a:ea typeface="Microsoft JhengHei"/>
              </a:rPr>
              <a:t>系統匣與背景監控示意圖</a:t>
            </a:r>
            <a:endParaRPr lang="zh-TW" altLang="en-US" sz="2800" b="1" dirty="0">
              <a:latin typeface="Microsoft JhengHei"/>
              <a:ea typeface="Microsoft JhengHei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3E8AE919-3F8E-4CBA-923C-7A8CBED34249}" type="slidenum">
              <a:rPr lang="zh-TW" altLang="en-US" smtClean="0">
                <a:solidFill>
                  <a:schemeClr val="bg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pPr algn="ctr"/>
              <a:t>16</a:t>
            </a:fld>
            <a:endParaRPr lang="zh-TW" altLang="en-US" sz="1050" dirty="0">
              <a:solidFill>
                <a:schemeClr val="bg1"/>
              </a:solidFill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圓角矩形 5"/>
          <p:cNvSpPr/>
          <p:nvPr/>
        </p:nvSpPr>
        <p:spPr>
          <a:xfrm>
            <a:off x="635000" y="1841500"/>
            <a:ext cx="1778000" cy="1143000"/>
          </a:xfrm>
          <a:prstGeom prst="roundRect">
            <a:avLst/>
          </a:prstGeom>
          <a:solidFill>
            <a:srgbClr val="00749F"/>
          </a:solidFill>
          <a:ln w="19050">
            <a:solidFill>
              <a:srgbClr val="807F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smtClean="0">
                <a:solidFill>
                  <a:srgbClr val="FFFFFF"/>
                </a:solidFill>
                <a:latin typeface="Microsoft JhengHei"/>
                <a:ea typeface="Microsoft JhengHei"/>
              </a:rPr>
              <a:t>主視窗</a:t>
            </a:r>
          </a:p>
          <a:p>
            <a:pPr algn="ctr"/>
            <a:r>
              <a:rPr lang="zh-TW" altLang="en-US" b="1" smtClean="0">
                <a:solidFill>
                  <a:srgbClr val="FFFFFF"/>
                </a:solidFill>
                <a:latin typeface="Microsoft JhengHei"/>
                <a:ea typeface="Microsoft JhengHei"/>
              </a:rPr>
              <a:t>最小化</a:t>
            </a:r>
            <a:endParaRPr lang="zh-TW" altLang="en-US" b="1">
              <a:solidFill>
                <a:srgbClr val="FFFFFF"/>
              </a:solidFill>
              <a:latin typeface="Microsoft JhengHei"/>
              <a:ea typeface="Microsoft JhengHei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2476500" y="2159000"/>
            <a:ext cx="571500" cy="461665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zh-TW" altLang="en-US" sz="2400" b="1" smtClean="0">
                <a:solidFill>
                  <a:srgbClr val="006C80"/>
                </a:solidFill>
                <a:latin typeface="Microsoft JhengHei"/>
                <a:ea typeface="Microsoft JhengHei"/>
              </a:rPr>
              <a:t>→</a:t>
            </a:r>
            <a:endParaRPr lang="zh-TW" altLang="en-US" sz="2400" b="1">
              <a:solidFill>
                <a:srgbClr val="006C80"/>
              </a:solidFill>
              <a:latin typeface="Microsoft JhengHei"/>
              <a:ea typeface="Microsoft JhengHei"/>
            </a:endParaRPr>
          </a:p>
        </p:txBody>
      </p:sp>
      <p:sp>
        <p:nvSpPr>
          <p:cNvPr id="8" name="圓角矩形 7"/>
          <p:cNvSpPr/>
          <p:nvPr/>
        </p:nvSpPr>
        <p:spPr>
          <a:xfrm>
            <a:off x="3048000" y="1841500"/>
            <a:ext cx="1778000" cy="1143000"/>
          </a:xfrm>
          <a:prstGeom prst="roundRect">
            <a:avLst/>
          </a:prstGeom>
          <a:solidFill>
            <a:srgbClr val="0066CC"/>
          </a:solidFill>
          <a:ln w="19050">
            <a:solidFill>
              <a:srgbClr val="807F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smtClean="0">
                <a:solidFill>
                  <a:srgbClr val="FFFFFF"/>
                </a:solidFill>
                <a:latin typeface="Microsoft JhengHei"/>
                <a:ea typeface="Microsoft JhengHei"/>
              </a:rPr>
              <a:t>系統匣常駐</a:t>
            </a:r>
          </a:p>
          <a:p>
            <a:pPr algn="ctr"/>
            <a:r>
              <a:rPr lang="zh-TW" altLang="en-US" b="1" smtClean="0">
                <a:solidFill>
                  <a:srgbClr val="FFFFFF"/>
                </a:solidFill>
                <a:latin typeface="Microsoft JhengHei"/>
                <a:ea typeface="Microsoft JhengHei"/>
              </a:rPr>
              <a:t>持續排程</a:t>
            </a:r>
            <a:endParaRPr lang="zh-TW" altLang="en-US" b="1">
              <a:solidFill>
                <a:srgbClr val="FFFFFF"/>
              </a:solidFill>
              <a:latin typeface="Microsoft JhengHei"/>
              <a:ea typeface="Microsoft JhengHei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4889500" y="2159000"/>
            <a:ext cx="571500" cy="461665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zh-TW" altLang="en-US" sz="2400" b="1" smtClean="0">
                <a:solidFill>
                  <a:srgbClr val="006C80"/>
                </a:solidFill>
                <a:latin typeface="Microsoft JhengHei"/>
                <a:ea typeface="Microsoft JhengHei"/>
              </a:rPr>
              <a:t>→</a:t>
            </a:r>
            <a:endParaRPr lang="zh-TW" altLang="en-US" sz="2400" b="1">
              <a:solidFill>
                <a:srgbClr val="006C80"/>
              </a:solidFill>
              <a:latin typeface="Microsoft JhengHei"/>
              <a:ea typeface="Microsoft JhengHei"/>
            </a:endParaRPr>
          </a:p>
        </p:txBody>
      </p:sp>
      <p:sp>
        <p:nvSpPr>
          <p:cNvPr id="10" name="圓角矩形 9"/>
          <p:cNvSpPr/>
          <p:nvPr/>
        </p:nvSpPr>
        <p:spPr>
          <a:xfrm>
            <a:off x="5461000" y="1841500"/>
            <a:ext cx="1524000" cy="1143000"/>
          </a:xfrm>
          <a:prstGeom prst="roundRect">
            <a:avLst/>
          </a:prstGeom>
          <a:solidFill>
            <a:srgbClr val="00749F"/>
          </a:solidFill>
          <a:ln w="19050">
            <a:solidFill>
              <a:srgbClr val="807F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700" b="1" smtClean="0">
                <a:solidFill>
                  <a:srgbClr val="FFFFFF"/>
                </a:solidFill>
                <a:latin typeface="Microsoft JhengHei"/>
                <a:ea typeface="Microsoft JhengHei"/>
              </a:rPr>
              <a:t>場次到點</a:t>
            </a:r>
          </a:p>
          <a:p>
            <a:pPr algn="ctr"/>
            <a:r>
              <a:rPr lang="zh-TW" altLang="en-US" sz="1700" b="1" smtClean="0">
                <a:solidFill>
                  <a:srgbClr val="FFFFFF"/>
                </a:solidFill>
                <a:latin typeface="Microsoft JhengHei"/>
                <a:ea typeface="Microsoft JhengHei"/>
              </a:rPr>
              <a:t>觸發一次</a:t>
            </a:r>
            <a:endParaRPr lang="zh-TW" altLang="en-US" sz="1700" b="1">
              <a:solidFill>
                <a:srgbClr val="FFFFFF"/>
              </a:solidFill>
              <a:latin typeface="Microsoft JhengHei"/>
              <a:ea typeface="Microsoft JhengHei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7048500" y="2159000"/>
            <a:ext cx="571500" cy="461665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zh-TW" altLang="en-US" sz="2400" b="1" smtClean="0">
                <a:solidFill>
                  <a:srgbClr val="006C80"/>
                </a:solidFill>
                <a:latin typeface="Microsoft JhengHei"/>
                <a:ea typeface="Microsoft JhengHei"/>
              </a:rPr>
              <a:t>→</a:t>
            </a:r>
            <a:endParaRPr lang="zh-TW" altLang="en-US" sz="2400" b="1">
              <a:solidFill>
                <a:srgbClr val="006C80"/>
              </a:solidFill>
              <a:latin typeface="Microsoft JhengHei"/>
              <a:ea typeface="Microsoft JhengHei"/>
            </a:endParaRPr>
          </a:p>
        </p:txBody>
      </p:sp>
      <p:sp>
        <p:nvSpPr>
          <p:cNvPr id="12" name="圓角矩形 11"/>
          <p:cNvSpPr/>
          <p:nvPr/>
        </p:nvSpPr>
        <p:spPr>
          <a:xfrm>
            <a:off x="7620000" y="1587500"/>
            <a:ext cx="1079500" cy="1651000"/>
          </a:xfrm>
          <a:prstGeom prst="roundRect">
            <a:avLst/>
          </a:prstGeom>
          <a:solidFill>
            <a:srgbClr val="0066CC"/>
          </a:solidFill>
          <a:ln w="19050">
            <a:solidFill>
              <a:srgbClr val="807F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500" b="1" smtClean="0">
                <a:solidFill>
                  <a:srgbClr val="FFFFFF"/>
                </a:solidFill>
                <a:latin typeface="Microsoft JhengHei"/>
                <a:ea typeface="Microsoft JhengHei"/>
              </a:rPr>
              <a:t>還原</a:t>
            </a:r>
          </a:p>
          <a:p>
            <a:pPr algn="ctr"/>
            <a:r>
              <a:rPr lang="zh-TW" altLang="en-US" sz="1500" b="1" smtClean="0">
                <a:solidFill>
                  <a:srgbClr val="FFFFFF"/>
                </a:solidFill>
                <a:latin typeface="Microsoft JhengHei"/>
                <a:ea typeface="Microsoft JhengHei"/>
              </a:rPr>
              <a:t>置頂</a:t>
            </a:r>
          </a:p>
          <a:p>
            <a:pPr algn="ctr"/>
            <a:r>
              <a:rPr lang="zh-TW" altLang="en-US" sz="1500" b="1" smtClean="0">
                <a:solidFill>
                  <a:srgbClr val="FFFFFF"/>
                </a:solidFill>
                <a:latin typeface="Microsoft JhengHei"/>
                <a:ea typeface="Microsoft JhengHei"/>
              </a:rPr>
              <a:t>聚焦</a:t>
            </a:r>
          </a:p>
          <a:p>
            <a:pPr algn="ctr"/>
            <a:r>
              <a:rPr lang="zh-TW" altLang="en-US" sz="1500" b="1" smtClean="0">
                <a:solidFill>
                  <a:srgbClr val="FFFFFF"/>
                </a:solidFill>
                <a:latin typeface="Microsoft JhengHei"/>
                <a:ea typeface="Microsoft JhengHei"/>
              </a:rPr>
              <a:t>播放</a:t>
            </a:r>
            <a:endParaRPr lang="zh-TW" altLang="en-US" sz="1500" b="1">
              <a:solidFill>
                <a:srgbClr val="FFFFFF"/>
              </a:solidFill>
              <a:latin typeface="Microsoft JhengHei"/>
              <a:ea typeface="Microsoft JhengHei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2349500" y="3619500"/>
            <a:ext cx="4826000" cy="353943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zh-TW" altLang="en-US" sz="1700" b="1" smtClean="0">
                <a:solidFill>
                  <a:srgbClr val="006C80"/>
                </a:solidFill>
                <a:latin typeface="Microsoft JhengHei"/>
                <a:ea typeface="Microsoft JhengHei"/>
              </a:rPr>
              <a:t>停止目前警報後 → 取消置頂 → 繼續安排下一場</a:t>
            </a:r>
            <a:endParaRPr lang="zh-TW" altLang="en-US" sz="1700" b="1">
              <a:solidFill>
                <a:srgbClr val="006C80"/>
              </a:solidFill>
              <a:latin typeface="Microsoft JhengHei"/>
              <a:ea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34727665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b="1" smtClean="0">
                <a:latin typeface="Microsoft JhengHei"/>
                <a:ea typeface="Microsoft JhengHei"/>
              </a:rPr>
              <a:t>離線與安全設計</a:t>
            </a:r>
            <a:endParaRPr lang="zh-TW" altLang="en-US" sz="2800" b="1" dirty="0">
              <a:latin typeface="Microsoft JhengHei"/>
              <a:ea typeface="Microsoft JhengHei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altLang="zh-TW" sz="2000" smtClean="0">
                <a:latin typeface="Microsoft JhengHei"/>
                <a:ea typeface="Microsoft JhengHei"/>
              </a:rPr>
              <a:t>• </a:t>
            </a:r>
            <a:r>
              <a:rPr lang="zh-TW" altLang="en-US" sz="2000" smtClean="0">
                <a:latin typeface="Microsoft JhengHei"/>
                <a:ea typeface="Microsoft JhengHei"/>
              </a:rPr>
              <a:t>不載入遠端網頁，</a:t>
            </a:r>
            <a:r>
              <a:rPr lang="en-US" altLang="zh-TW" sz="2000" smtClean="0">
                <a:latin typeface="Microsoft JhengHei"/>
                <a:ea typeface="Microsoft JhengHei"/>
              </a:rPr>
              <a:t>SheetJS </a:t>
            </a:r>
            <a:r>
              <a:rPr lang="zh-TW" altLang="en-US" sz="2000" smtClean="0">
                <a:latin typeface="Microsoft JhengHei"/>
                <a:ea typeface="Microsoft JhengHei"/>
              </a:rPr>
              <a:t>與 </a:t>
            </a:r>
            <a:r>
              <a:rPr lang="en-US" altLang="zh-TW" sz="2000" smtClean="0">
                <a:latin typeface="Microsoft JhengHei"/>
                <a:ea typeface="Microsoft JhengHei"/>
              </a:rPr>
              <a:t>PDF.js </a:t>
            </a:r>
            <a:r>
              <a:rPr lang="zh-TW" altLang="en-US" sz="2000" smtClean="0">
                <a:latin typeface="Microsoft JhengHei"/>
                <a:ea typeface="Microsoft JhengHei"/>
              </a:rPr>
              <a:t>均在本機
</a:t>
            </a:r>
            <a:r>
              <a:rPr lang="en-US" altLang="zh-TW" sz="2000" smtClean="0">
                <a:latin typeface="Microsoft JhengHei"/>
                <a:ea typeface="Microsoft JhengHei"/>
              </a:rPr>
              <a:t>• Electron Renderer</a:t>
            </a:r>
            <a:r>
              <a:rPr lang="zh-TW" altLang="en-US" sz="2000" smtClean="0">
                <a:latin typeface="Microsoft JhengHei"/>
                <a:ea typeface="Microsoft JhengHei"/>
              </a:rPr>
              <a:t>：</a:t>
            </a:r>
            <a:r>
              <a:rPr lang="en-US" altLang="zh-TW" sz="2000" smtClean="0">
                <a:latin typeface="Microsoft JhengHei"/>
                <a:ea typeface="Microsoft JhengHei"/>
              </a:rPr>
              <a:t>nodeIntegration=false</a:t>
            </a:r>
            <a:r>
              <a:rPr lang="zh-TW" altLang="en-US" sz="2000" smtClean="0">
                <a:latin typeface="Microsoft JhengHei"/>
                <a:ea typeface="Microsoft JhengHei"/>
              </a:rPr>
              <a:t>、</a:t>
            </a:r>
            <a:r>
              <a:rPr lang="en-US" altLang="zh-TW" sz="2000" smtClean="0">
                <a:latin typeface="Microsoft JhengHei"/>
                <a:ea typeface="Microsoft JhengHei"/>
              </a:rPr>
              <a:t>contextIsolation=true</a:t>
            </a:r>
            <a:r>
              <a:rPr lang="zh-TW" altLang="en-US" sz="2000" smtClean="0">
                <a:latin typeface="Microsoft JhengHei"/>
                <a:ea typeface="Microsoft JhengHei"/>
              </a:rPr>
              <a:t>、</a:t>
            </a:r>
            <a:r>
              <a:rPr lang="en-US" altLang="zh-TW" sz="2000" smtClean="0">
                <a:latin typeface="Microsoft JhengHei"/>
                <a:ea typeface="Microsoft JhengHei"/>
              </a:rPr>
              <a:t>sandbox=true
• Preload </a:t>
            </a:r>
            <a:r>
              <a:rPr lang="zh-TW" altLang="en-US" sz="2000" smtClean="0">
                <a:latin typeface="Microsoft JhengHei"/>
                <a:ea typeface="Microsoft JhengHei"/>
              </a:rPr>
              <a:t>只暴露受限制的桌面警報與設定 </a:t>
            </a:r>
            <a:r>
              <a:rPr lang="en-US" altLang="zh-TW" sz="2000" smtClean="0">
                <a:latin typeface="Microsoft JhengHei"/>
                <a:ea typeface="Microsoft JhengHei"/>
              </a:rPr>
              <a:t>API
• </a:t>
            </a:r>
            <a:r>
              <a:rPr lang="zh-TW" altLang="en-US" sz="2000" smtClean="0">
                <a:latin typeface="Microsoft JhengHei"/>
                <a:ea typeface="Microsoft JhengHei"/>
              </a:rPr>
              <a:t>不暴露 </a:t>
            </a:r>
            <a:r>
              <a:rPr lang="en-US" altLang="zh-TW" sz="2000" smtClean="0">
                <a:latin typeface="Microsoft JhengHei"/>
                <a:ea typeface="Microsoft JhengHei"/>
              </a:rPr>
              <a:t>require</a:t>
            </a:r>
            <a:r>
              <a:rPr lang="zh-TW" altLang="en-US" sz="2000" smtClean="0">
                <a:latin typeface="Microsoft JhengHei"/>
                <a:ea typeface="Microsoft JhengHei"/>
              </a:rPr>
              <a:t>、</a:t>
            </a:r>
            <a:r>
              <a:rPr lang="en-US" altLang="zh-TW" sz="2000" smtClean="0">
                <a:latin typeface="Microsoft JhengHei"/>
                <a:ea typeface="Microsoft JhengHei"/>
              </a:rPr>
              <a:t>process</a:t>
            </a:r>
            <a:r>
              <a:rPr lang="zh-TW" altLang="en-US" sz="2000" smtClean="0">
                <a:latin typeface="Microsoft JhengHei"/>
                <a:ea typeface="Microsoft JhengHei"/>
              </a:rPr>
              <a:t>、</a:t>
            </a:r>
            <a:r>
              <a:rPr lang="en-US" altLang="zh-TW" sz="2000" smtClean="0">
                <a:latin typeface="Microsoft JhengHei"/>
                <a:ea typeface="Microsoft JhengHei"/>
              </a:rPr>
              <a:t>fs</a:t>
            </a:r>
            <a:r>
              <a:rPr lang="zh-TW" altLang="en-US" sz="2000" smtClean="0">
                <a:latin typeface="Microsoft JhengHei"/>
                <a:ea typeface="Microsoft JhengHei"/>
              </a:rPr>
              <a:t>、</a:t>
            </a:r>
            <a:r>
              <a:rPr lang="en-US" altLang="zh-TW" sz="2000" smtClean="0">
                <a:latin typeface="Microsoft JhengHei"/>
                <a:ea typeface="Microsoft JhengHei"/>
              </a:rPr>
              <a:t>shell</a:t>
            </a:r>
            <a:r>
              <a:rPr lang="zh-TW" altLang="en-US" sz="2000" smtClean="0">
                <a:latin typeface="Microsoft JhengHei"/>
                <a:ea typeface="Microsoft JhengHei"/>
              </a:rPr>
              <a:t>、</a:t>
            </a:r>
            <a:r>
              <a:rPr lang="en-US" altLang="zh-TW" sz="2000" smtClean="0">
                <a:latin typeface="Microsoft JhengHei"/>
                <a:ea typeface="Microsoft JhengHei"/>
              </a:rPr>
              <a:t>child_process </a:t>
            </a:r>
            <a:r>
              <a:rPr lang="zh-TW" altLang="en-US" sz="2000" smtClean="0">
                <a:latin typeface="Microsoft JhengHei"/>
                <a:ea typeface="Microsoft JhengHei"/>
              </a:rPr>
              <a:t>或完整 </a:t>
            </a:r>
            <a:r>
              <a:rPr lang="en-US" altLang="zh-TW" sz="2000" smtClean="0">
                <a:latin typeface="Microsoft JhengHei"/>
                <a:ea typeface="Microsoft JhengHei"/>
              </a:rPr>
              <a:t>ipcRenderer
• Electron </a:t>
            </a:r>
            <a:r>
              <a:rPr lang="zh-TW" altLang="en-US" sz="2000" smtClean="0">
                <a:latin typeface="Microsoft JhengHei"/>
                <a:ea typeface="Microsoft JhengHei"/>
              </a:rPr>
              <a:t>已升級至 </a:t>
            </a:r>
            <a:r>
              <a:rPr lang="en-US" altLang="zh-TW" sz="2000" smtClean="0">
                <a:latin typeface="Microsoft JhengHei"/>
                <a:ea typeface="Microsoft JhengHei"/>
              </a:rPr>
              <a:t>43.1.1</a:t>
            </a:r>
            <a:r>
              <a:rPr lang="zh-TW" altLang="en-US" sz="2000" smtClean="0">
                <a:latin typeface="Microsoft JhengHei"/>
                <a:ea typeface="Microsoft JhengHei"/>
              </a:rPr>
              <a:t>，</a:t>
            </a:r>
            <a:r>
              <a:rPr lang="en-US" altLang="zh-TW" sz="2000" smtClean="0">
                <a:latin typeface="Microsoft JhengHei"/>
                <a:ea typeface="Microsoft JhengHei"/>
              </a:rPr>
              <a:t>npm audit </a:t>
            </a:r>
            <a:r>
              <a:rPr lang="zh-TW" altLang="en-US" sz="2000" smtClean="0">
                <a:latin typeface="Microsoft JhengHei"/>
                <a:ea typeface="Microsoft JhengHei"/>
              </a:rPr>
              <a:t>為 </a:t>
            </a:r>
            <a:r>
              <a:rPr lang="en-US" altLang="zh-TW" sz="2000" smtClean="0">
                <a:latin typeface="Microsoft JhengHei"/>
                <a:ea typeface="Microsoft JhengHei"/>
              </a:rPr>
              <a:t>0 vulnerabilities
• </a:t>
            </a:r>
            <a:r>
              <a:rPr lang="zh-TW" altLang="en-US" sz="2000" smtClean="0">
                <a:latin typeface="Microsoft JhengHei"/>
                <a:ea typeface="Microsoft JhengHei"/>
              </a:rPr>
              <a:t>程式不修改 </a:t>
            </a:r>
            <a:r>
              <a:rPr lang="en-US" altLang="zh-TW" sz="2000" smtClean="0">
                <a:latin typeface="Microsoft JhengHei"/>
                <a:ea typeface="Microsoft JhengHei"/>
              </a:rPr>
              <a:t>Windows </a:t>
            </a:r>
            <a:r>
              <a:rPr lang="zh-TW" altLang="en-US" sz="2000" smtClean="0">
                <a:latin typeface="Microsoft JhengHei"/>
                <a:ea typeface="Microsoft JhengHei"/>
              </a:rPr>
              <a:t>系統主音量，實際響度由 </a:t>
            </a:r>
            <a:r>
              <a:rPr lang="en-US" altLang="zh-TW" sz="2000" smtClean="0">
                <a:latin typeface="Microsoft JhengHei"/>
                <a:ea typeface="Microsoft JhengHei"/>
              </a:rPr>
              <a:t>Windows </a:t>
            </a:r>
            <a:r>
              <a:rPr lang="zh-TW" altLang="en-US" sz="2000" smtClean="0">
                <a:latin typeface="Microsoft JhengHei"/>
                <a:ea typeface="Microsoft JhengHei"/>
              </a:rPr>
              <a:t>混音器控制</a:t>
            </a:r>
            <a:endParaRPr lang="zh-TW" altLang="en-US" sz="2000" dirty="0">
              <a:latin typeface="Microsoft JhengHei"/>
              <a:ea typeface="Microsoft JhengHei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3E8AE919-3F8E-4CBA-923C-7A8CBED34249}" type="slidenum">
              <a:rPr lang="zh-TW" altLang="en-US" smtClean="0">
                <a:solidFill>
                  <a:schemeClr val="bg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pPr algn="ctr"/>
              <a:t>17</a:t>
            </a:fld>
            <a:endParaRPr lang="zh-TW" altLang="en-US" sz="1050" dirty="0">
              <a:solidFill>
                <a:schemeClr val="bg1"/>
              </a:solidFill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911655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b="1" smtClean="0">
                <a:latin typeface="Microsoft JhengHei"/>
                <a:ea typeface="Microsoft JhengHei"/>
              </a:rPr>
              <a:t>每日操作建議</a:t>
            </a:r>
            <a:endParaRPr lang="zh-TW" altLang="en-US" sz="2800" b="1" dirty="0">
              <a:latin typeface="Microsoft JhengHei"/>
              <a:ea typeface="Microsoft JhengHei"/>
            </a:endParaRPr>
          </a:p>
        </p:txBody>
      </p:sp>
      <p:sp>
        <p:nvSpPr>
          <p:cNvPr id="6" name="內容版面配置區 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spcAft>
                <a:spcPts val="800"/>
              </a:spcAft>
              <a:buNone/>
            </a:pPr>
            <a:r>
              <a:rPr lang="zh-TW" altLang="en-US" sz="1800" smtClean="0">
                <a:latin typeface="Microsoft JhengHei"/>
                <a:ea typeface="Microsoft JhengHei"/>
              </a:rPr>
              <a:t>營業前
</a:t>
            </a:r>
            <a:r>
              <a:rPr lang="en-US" altLang="zh-TW" sz="1800" smtClean="0">
                <a:latin typeface="Microsoft JhengHei"/>
                <a:ea typeface="Microsoft JhengHei"/>
              </a:rPr>
              <a:t>1. </a:t>
            </a:r>
            <a:r>
              <a:rPr lang="zh-TW" altLang="en-US" sz="1800" smtClean="0">
                <a:latin typeface="Microsoft JhengHei"/>
                <a:ea typeface="Microsoft JhengHei"/>
              </a:rPr>
              <a:t>確認程式已啟動
</a:t>
            </a:r>
            <a:r>
              <a:rPr lang="en-US" altLang="zh-TW" sz="1800" smtClean="0">
                <a:latin typeface="Microsoft JhengHei"/>
                <a:ea typeface="Microsoft JhengHei"/>
              </a:rPr>
              <a:t>2. </a:t>
            </a:r>
            <a:r>
              <a:rPr lang="zh-TW" altLang="en-US" sz="1800" smtClean="0">
                <a:latin typeface="Microsoft JhengHei"/>
                <a:ea typeface="Microsoft JhengHei"/>
              </a:rPr>
              <a:t>確認鬧鐘顯示已開啟
</a:t>
            </a:r>
            <a:r>
              <a:rPr lang="en-US" altLang="zh-TW" sz="1800" smtClean="0">
                <a:latin typeface="Microsoft JhengHei"/>
                <a:ea typeface="Microsoft JhengHei"/>
              </a:rPr>
              <a:t>3. </a:t>
            </a:r>
            <a:r>
              <a:rPr lang="zh-TW" altLang="en-US" sz="1800" smtClean="0">
                <a:latin typeface="Microsoft JhengHei"/>
                <a:ea typeface="Microsoft JhengHei"/>
              </a:rPr>
              <a:t>匯入最新週期 </a:t>
            </a:r>
            <a:r>
              <a:rPr lang="en-US" altLang="zh-TW" sz="1800" smtClean="0">
                <a:latin typeface="Microsoft JhengHei"/>
                <a:ea typeface="Microsoft JhengHei"/>
              </a:rPr>
              <a:t>Excel</a:t>
            </a:r>
            <a:r>
              <a:rPr lang="zh-TW" altLang="en-US" sz="1800" smtClean="0">
                <a:latin typeface="Microsoft JhengHei"/>
                <a:ea typeface="Microsoft JhengHei"/>
              </a:rPr>
              <a:t>／</a:t>
            </a:r>
            <a:r>
              <a:rPr lang="en-US" altLang="zh-TW" sz="1800" smtClean="0">
                <a:latin typeface="Microsoft JhengHei"/>
                <a:ea typeface="Microsoft JhengHei"/>
              </a:rPr>
              <a:t>PDF
4. </a:t>
            </a:r>
            <a:r>
              <a:rPr lang="zh-TW" altLang="en-US" sz="1800" smtClean="0">
                <a:latin typeface="Microsoft JhengHei"/>
                <a:ea typeface="Microsoft JhengHei"/>
              </a:rPr>
              <a:t>必要時更新 </a:t>
            </a:r>
            <a:r>
              <a:rPr lang="en-US" altLang="zh-TW" sz="1800" smtClean="0">
                <a:latin typeface="Microsoft JhengHei"/>
                <a:ea typeface="Microsoft JhengHei"/>
              </a:rPr>
              <a:t>DCP </a:t>
            </a:r>
            <a:r>
              <a:rPr lang="zh-TW" altLang="en-US" sz="1800" smtClean="0">
                <a:latin typeface="Microsoft JhengHei"/>
                <a:ea typeface="Microsoft JhengHei"/>
              </a:rPr>
              <a:t>中文片名
</a:t>
            </a:r>
            <a:r>
              <a:rPr lang="en-US" altLang="zh-TW" sz="1800" smtClean="0">
                <a:latin typeface="Microsoft JhengHei"/>
                <a:ea typeface="Microsoft JhengHei"/>
              </a:rPr>
              <a:t>5. </a:t>
            </a:r>
            <a:r>
              <a:rPr lang="zh-TW" altLang="en-US" sz="1800" smtClean="0">
                <a:latin typeface="Microsoft JhengHei"/>
                <a:ea typeface="Microsoft JhengHei"/>
              </a:rPr>
              <a:t>抽查日期、片名與影廳</a:t>
            </a:r>
            <a:endParaRPr lang="zh-TW" altLang="en-US" sz="1800" dirty="0">
              <a:latin typeface="Microsoft JhengHei"/>
              <a:ea typeface="Microsoft JhengHei"/>
            </a:endParaRPr>
          </a:p>
        </p:txBody>
      </p:sp>
      <p:sp>
        <p:nvSpPr>
          <p:cNvPr id="7" name="內容版面配置區 6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spcAft>
                <a:spcPts val="800"/>
              </a:spcAft>
              <a:buNone/>
            </a:pPr>
            <a:r>
              <a:rPr lang="zh-TW" altLang="en-US" sz="1800" smtClean="0">
                <a:latin typeface="Microsoft JhengHei"/>
                <a:ea typeface="Microsoft JhengHei"/>
              </a:rPr>
              <a:t>營業中／打烊後
</a:t>
            </a:r>
            <a:r>
              <a:rPr lang="en-US" altLang="zh-TW" sz="1800" smtClean="0">
                <a:latin typeface="Microsoft JhengHei"/>
                <a:ea typeface="Microsoft JhengHei"/>
              </a:rPr>
              <a:t>• </a:t>
            </a:r>
            <a:r>
              <a:rPr lang="zh-TW" altLang="en-US" sz="1800" smtClean="0">
                <a:latin typeface="Microsoft JhengHei"/>
                <a:ea typeface="Microsoft JhengHei"/>
              </a:rPr>
              <a:t>以 </a:t>
            </a:r>
            <a:r>
              <a:rPr lang="en-US" altLang="zh-TW" sz="1800" smtClean="0">
                <a:latin typeface="Microsoft JhengHei"/>
                <a:ea typeface="Microsoft JhengHei"/>
              </a:rPr>
              <a:t>Next Movie </a:t>
            </a:r>
            <a:r>
              <a:rPr lang="zh-TW" altLang="en-US" sz="1800" smtClean="0">
                <a:latin typeface="Microsoft JhengHei"/>
                <a:ea typeface="Microsoft JhengHei"/>
              </a:rPr>
              <a:t>監看下一場
</a:t>
            </a:r>
            <a:r>
              <a:rPr lang="en-US" altLang="zh-TW" sz="1800" smtClean="0">
                <a:latin typeface="Microsoft JhengHei"/>
                <a:ea typeface="Microsoft JhengHei"/>
              </a:rPr>
              <a:t>• </a:t>
            </a:r>
            <a:r>
              <a:rPr lang="zh-TW" altLang="en-US" sz="1800" smtClean="0">
                <a:latin typeface="Microsoft JhengHei"/>
                <a:ea typeface="Microsoft JhengHei"/>
              </a:rPr>
              <a:t>保持程式常駐系統匣
</a:t>
            </a:r>
            <a:r>
              <a:rPr lang="en-US" altLang="zh-TW" sz="1800" smtClean="0">
                <a:latin typeface="Microsoft JhengHei"/>
                <a:ea typeface="Microsoft JhengHei"/>
              </a:rPr>
              <a:t>• </a:t>
            </a:r>
            <a:r>
              <a:rPr lang="zh-TW" altLang="en-US" sz="1800" smtClean="0">
                <a:latin typeface="Microsoft JhengHei"/>
                <a:ea typeface="Microsoft JhengHei"/>
              </a:rPr>
              <a:t>警報後按「停止警報」
</a:t>
            </a:r>
            <a:r>
              <a:rPr lang="en-US" altLang="zh-TW" sz="1800" smtClean="0">
                <a:latin typeface="Microsoft JhengHei"/>
                <a:ea typeface="Microsoft JhengHei"/>
              </a:rPr>
              <a:t>• </a:t>
            </a:r>
            <a:r>
              <a:rPr lang="zh-TW" altLang="en-US" sz="1800" smtClean="0">
                <a:latin typeface="Microsoft JhengHei"/>
                <a:ea typeface="Microsoft JhengHei"/>
              </a:rPr>
              <a:t>不需關閉後續警報
</a:t>
            </a:r>
            <a:r>
              <a:rPr lang="en-US" altLang="zh-TW" sz="1800" smtClean="0">
                <a:latin typeface="Microsoft JhengHei"/>
                <a:ea typeface="Microsoft JhengHei"/>
              </a:rPr>
              <a:t>• </a:t>
            </a:r>
            <a:r>
              <a:rPr lang="zh-TW" altLang="en-US" sz="1800" smtClean="0">
                <a:latin typeface="Microsoft JhengHei"/>
                <a:ea typeface="Microsoft JhengHei"/>
              </a:rPr>
              <a:t>週期播完依提醒匯入新檔</a:t>
            </a:r>
            <a:endParaRPr lang="zh-TW" altLang="en-US" sz="1800" dirty="0">
              <a:latin typeface="Microsoft JhengHei"/>
              <a:ea typeface="Microsoft JhengHei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3E8AE919-3F8E-4CBA-923C-7A8CBED34249}" type="slidenum">
              <a:rPr lang="zh-TW" altLang="en-US" smtClean="0">
                <a:solidFill>
                  <a:schemeClr val="bg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pPr algn="ctr"/>
              <a:t>18</a:t>
            </a:fld>
            <a:endParaRPr lang="zh-TW" altLang="en-US" sz="1050" dirty="0">
              <a:solidFill>
                <a:schemeClr val="bg1"/>
              </a:solidFill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249880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b="1" smtClean="0">
                <a:latin typeface="Microsoft JhengHei"/>
                <a:ea typeface="Microsoft JhengHei"/>
              </a:rPr>
              <a:t>優點與已知限制</a:t>
            </a:r>
            <a:endParaRPr lang="zh-TW" altLang="en-US" sz="2800" b="1" dirty="0">
              <a:latin typeface="Microsoft JhengHei"/>
              <a:ea typeface="Microsoft JhengHei"/>
            </a:endParaRPr>
          </a:p>
        </p:txBody>
      </p:sp>
      <p:sp>
        <p:nvSpPr>
          <p:cNvPr id="7" name="文字版面配置區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zh-TW" altLang="en-US" smtClean="0">
                <a:latin typeface="Microsoft JhengHei"/>
                <a:ea typeface="Microsoft JhengHei"/>
              </a:rPr>
              <a:t>優點</a:t>
            </a:r>
            <a:endParaRPr lang="zh-TW" altLang="en-US" dirty="0">
              <a:latin typeface="Microsoft JhengHei"/>
              <a:ea typeface="Microsoft JhengHei"/>
            </a:endParaRPr>
          </a:p>
        </p:txBody>
      </p:sp>
      <p:sp>
        <p:nvSpPr>
          <p:cNvPr id="8" name="內容版面配置區 7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TW" sz="1800" smtClean="0">
                <a:latin typeface="Microsoft JhengHei"/>
                <a:ea typeface="Microsoft JhengHei"/>
              </a:rPr>
              <a:t>• Excel</a:t>
            </a:r>
            <a:r>
              <a:rPr lang="zh-TW" altLang="en-US" sz="1800" smtClean="0">
                <a:latin typeface="Microsoft JhengHei"/>
                <a:ea typeface="Microsoft JhengHei"/>
              </a:rPr>
              <a:t>／</a:t>
            </a:r>
            <a:r>
              <a:rPr lang="en-US" altLang="zh-TW" sz="1800" smtClean="0">
                <a:latin typeface="Microsoft JhengHei"/>
                <a:ea typeface="Microsoft JhengHei"/>
              </a:rPr>
              <a:t>PDF </a:t>
            </a:r>
            <a:r>
              <a:rPr lang="zh-TW" altLang="en-US" sz="1800" smtClean="0">
                <a:latin typeface="Microsoft JhengHei"/>
                <a:ea typeface="Microsoft JhengHei"/>
              </a:rPr>
              <a:t>一次匯入整週
</a:t>
            </a:r>
            <a:r>
              <a:rPr lang="en-US" altLang="zh-TW" sz="1800" smtClean="0">
                <a:latin typeface="Microsoft JhengHei"/>
                <a:ea typeface="Microsoft JhengHei"/>
              </a:rPr>
              <a:t>• </a:t>
            </a:r>
            <a:r>
              <a:rPr lang="zh-TW" altLang="en-US" sz="1800" smtClean="0">
                <a:latin typeface="Microsoft JhengHei"/>
                <a:ea typeface="Microsoft JhengHei"/>
              </a:rPr>
              <a:t>跨午夜營運日自動整理
</a:t>
            </a:r>
            <a:r>
              <a:rPr lang="en-US" altLang="zh-TW" sz="1800" smtClean="0">
                <a:latin typeface="Microsoft JhengHei"/>
                <a:ea typeface="Microsoft JhengHei"/>
              </a:rPr>
              <a:t>• </a:t>
            </a:r>
            <a:r>
              <a:rPr lang="zh-TW" altLang="en-US" sz="1800" smtClean="0">
                <a:latin typeface="Microsoft JhengHei"/>
                <a:ea typeface="Microsoft JhengHei"/>
              </a:rPr>
              <a:t>背景與最小化仍能提醒
</a:t>
            </a:r>
            <a:r>
              <a:rPr lang="en-US" altLang="zh-TW" sz="1800" smtClean="0">
                <a:latin typeface="Microsoft JhengHei"/>
                <a:ea typeface="Microsoft JhengHei"/>
              </a:rPr>
              <a:t>• </a:t>
            </a:r>
            <a:r>
              <a:rPr lang="zh-TW" altLang="en-US" sz="1800" smtClean="0">
                <a:latin typeface="Microsoft JhengHei"/>
                <a:ea typeface="Microsoft JhengHei"/>
              </a:rPr>
              <a:t>完全離線，不依賴外部服務
</a:t>
            </a:r>
            <a:r>
              <a:rPr lang="en-US" altLang="zh-TW" sz="1800" smtClean="0">
                <a:latin typeface="Microsoft JhengHei"/>
                <a:ea typeface="Microsoft JhengHei"/>
              </a:rPr>
              <a:t>• </a:t>
            </a:r>
            <a:r>
              <a:rPr lang="zh-TW" altLang="en-US" sz="1800" smtClean="0">
                <a:latin typeface="Microsoft JhengHei"/>
                <a:ea typeface="Microsoft JhengHei"/>
              </a:rPr>
              <a:t>安裝後可固定日常使用</a:t>
            </a:r>
            <a:endParaRPr lang="zh-TW" altLang="en-US" sz="1800" dirty="0">
              <a:latin typeface="Microsoft JhengHei"/>
              <a:ea typeface="Microsoft JhengHei"/>
            </a:endParaRPr>
          </a:p>
        </p:txBody>
      </p:sp>
      <p:sp>
        <p:nvSpPr>
          <p:cNvPr id="9" name="文字版面配置區 8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zh-TW" altLang="en-US" smtClean="0">
                <a:latin typeface="Microsoft JhengHei"/>
                <a:ea typeface="Microsoft JhengHei"/>
              </a:rPr>
              <a:t>已知限制</a:t>
            </a:r>
            <a:endParaRPr lang="zh-TW" altLang="en-US" dirty="0">
              <a:latin typeface="Microsoft JhengHei"/>
              <a:ea typeface="Microsoft JhengHei"/>
            </a:endParaRPr>
          </a:p>
        </p:txBody>
      </p:sp>
      <p:sp>
        <p:nvSpPr>
          <p:cNvPr id="10" name="內容版面配置區 9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TW" sz="1800" smtClean="0">
                <a:latin typeface="Microsoft JhengHei"/>
                <a:ea typeface="Microsoft JhengHei"/>
              </a:rPr>
              <a:t>• </a:t>
            </a:r>
            <a:r>
              <a:rPr lang="zh-TW" altLang="en-US" sz="1800" smtClean="0">
                <a:latin typeface="Microsoft JhengHei"/>
                <a:ea typeface="Microsoft JhengHei"/>
              </a:rPr>
              <a:t>未進行程式碼簽章，可能出現 </a:t>
            </a:r>
            <a:r>
              <a:rPr lang="en-US" altLang="zh-TW" sz="1800" smtClean="0">
                <a:latin typeface="Microsoft JhengHei"/>
                <a:ea typeface="Microsoft JhengHei"/>
              </a:rPr>
              <a:t>SmartScreen </a:t>
            </a:r>
            <a:r>
              <a:rPr lang="zh-TW" altLang="en-US" sz="1800" smtClean="0">
                <a:latin typeface="Microsoft JhengHei"/>
                <a:ea typeface="Microsoft JhengHei"/>
              </a:rPr>
              <a:t>提示
</a:t>
            </a:r>
            <a:r>
              <a:rPr lang="en-US" altLang="zh-TW" sz="1800" smtClean="0">
                <a:latin typeface="Microsoft JhengHei"/>
                <a:ea typeface="Microsoft JhengHei"/>
              </a:rPr>
              <a:t>• Windows </a:t>
            </a:r>
            <a:r>
              <a:rPr lang="zh-TW" altLang="en-US" sz="1800" smtClean="0">
                <a:latin typeface="Microsoft JhengHei"/>
                <a:ea typeface="Microsoft JhengHei"/>
              </a:rPr>
              <a:t>鎖定畫面與 </a:t>
            </a:r>
            <a:r>
              <a:rPr lang="en-US" altLang="zh-TW" sz="1800" smtClean="0">
                <a:latin typeface="Microsoft JhengHei"/>
                <a:ea typeface="Microsoft JhengHei"/>
              </a:rPr>
              <a:t>UAC </a:t>
            </a:r>
            <a:r>
              <a:rPr lang="zh-TW" altLang="en-US" sz="1800" smtClean="0">
                <a:latin typeface="Microsoft JhengHei"/>
                <a:ea typeface="Microsoft JhengHei"/>
              </a:rPr>
              <a:t>安全桌面無法被一般視窗覆蓋
</a:t>
            </a:r>
            <a:r>
              <a:rPr lang="en-US" altLang="zh-TW" sz="1800" smtClean="0">
                <a:latin typeface="Microsoft JhengHei"/>
                <a:ea typeface="Microsoft JhengHei"/>
              </a:rPr>
              <a:t>• Windows </a:t>
            </a:r>
            <a:r>
              <a:rPr lang="zh-TW" altLang="en-US" sz="1800" smtClean="0">
                <a:latin typeface="Microsoft JhengHei"/>
                <a:ea typeface="Microsoft JhengHei"/>
              </a:rPr>
              <a:t>系統主音量雙向同步尚未完成
</a:t>
            </a:r>
            <a:r>
              <a:rPr lang="en-US" altLang="zh-TW" sz="1800" smtClean="0">
                <a:latin typeface="Microsoft JhengHei"/>
                <a:ea typeface="Microsoft JhengHei"/>
              </a:rPr>
              <a:t>• </a:t>
            </a:r>
            <a:r>
              <a:rPr lang="zh-TW" altLang="en-US" sz="1800" smtClean="0">
                <a:latin typeface="Microsoft JhengHei"/>
                <a:ea typeface="Microsoft JhengHei"/>
              </a:rPr>
              <a:t>匯入後仍建議人工抽查場次資料</a:t>
            </a:r>
            <a:endParaRPr lang="zh-TW" altLang="en-US" sz="1800" dirty="0">
              <a:latin typeface="Microsoft JhengHei"/>
              <a:ea typeface="Microsoft JhengHei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3E8AE919-3F8E-4CBA-923C-7A8CBED34249}" type="slidenum">
              <a:rPr lang="zh-TW" altLang="en-US" smtClean="0">
                <a:solidFill>
                  <a:schemeClr val="bg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pPr algn="ctr"/>
              <a:t>19</a:t>
            </a:fld>
            <a:endParaRPr lang="zh-TW" altLang="en-US" sz="1050" dirty="0">
              <a:solidFill>
                <a:schemeClr val="bg1"/>
              </a:solidFill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409369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b="1" smtClean="0">
                <a:latin typeface="Microsoft JhengHei"/>
                <a:ea typeface="Microsoft JhengHei"/>
              </a:rPr>
              <a:t>異常處理與回報方式</a:t>
            </a:r>
            <a:endParaRPr lang="zh-TW" altLang="en-US" sz="2800" b="1" dirty="0">
              <a:latin typeface="Microsoft JhengHei"/>
              <a:ea typeface="Microsoft JhengHei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altLang="zh-TW" sz="2000" smtClean="0">
                <a:latin typeface="Microsoft JhengHei"/>
                <a:ea typeface="Microsoft JhengHei"/>
              </a:rPr>
              <a:t>• </a:t>
            </a:r>
            <a:r>
              <a:rPr lang="zh-TW" altLang="en-US" sz="2000" smtClean="0">
                <a:latin typeface="Microsoft JhengHei"/>
                <a:ea typeface="Microsoft JhengHei"/>
              </a:rPr>
              <a:t>匯入失敗：保留上一份有效場次，確認檔案格式與必要欄位
</a:t>
            </a:r>
            <a:r>
              <a:rPr lang="en-US" altLang="zh-TW" sz="2000" smtClean="0">
                <a:latin typeface="Microsoft JhengHei"/>
                <a:ea typeface="Microsoft JhengHei"/>
              </a:rPr>
              <a:t>• </a:t>
            </a:r>
            <a:r>
              <a:rPr lang="zh-TW" altLang="en-US" sz="2000" smtClean="0">
                <a:latin typeface="Microsoft JhengHei"/>
                <a:ea typeface="Microsoft JhengHei"/>
              </a:rPr>
              <a:t>日期異常：提供 </a:t>
            </a:r>
            <a:r>
              <a:rPr lang="en-US" altLang="zh-TW" sz="2000" smtClean="0">
                <a:latin typeface="Microsoft JhengHei"/>
                <a:ea typeface="Microsoft JhengHei"/>
              </a:rPr>
              <a:t>PDF </a:t>
            </a:r>
            <a:r>
              <a:rPr lang="zh-TW" altLang="en-US" sz="2000" smtClean="0">
                <a:latin typeface="Microsoft JhengHei"/>
                <a:ea typeface="Microsoft JhengHei"/>
              </a:rPr>
              <a:t>檔名、問題頁面與正確日期週期
</a:t>
            </a:r>
            <a:r>
              <a:rPr lang="en-US" altLang="zh-TW" sz="2000" smtClean="0">
                <a:latin typeface="Microsoft JhengHei"/>
                <a:ea typeface="Microsoft JhengHei"/>
              </a:rPr>
              <a:t>• </a:t>
            </a:r>
            <a:r>
              <a:rPr lang="zh-TW" altLang="en-US" sz="2000" smtClean="0">
                <a:latin typeface="Microsoft JhengHei"/>
                <a:ea typeface="Microsoft JhengHei"/>
              </a:rPr>
              <a:t>中文片名未匹配：確認 </a:t>
            </a:r>
            <a:r>
              <a:rPr lang="en-US" altLang="zh-TW" sz="2000" smtClean="0">
                <a:latin typeface="Microsoft JhengHei"/>
                <a:ea typeface="Microsoft JhengHei"/>
              </a:rPr>
              <a:t>DCP </a:t>
            </a:r>
            <a:r>
              <a:rPr lang="zh-TW" altLang="en-US" sz="2000" smtClean="0">
                <a:latin typeface="Microsoft JhengHei"/>
                <a:ea typeface="Microsoft JhengHei"/>
              </a:rPr>
              <a:t>工作表與英文片名來源
</a:t>
            </a:r>
            <a:r>
              <a:rPr lang="en-US" altLang="zh-TW" sz="2000" smtClean="0">
                <a:latin typeface="Microsoft JhengHei"/>
                <a:ea typeface="Microsoft JhengHei"/>
              </a:rPr>
              <a:t>• </a:t>
            </a:r>
            <a:r>
              <a:rPr lang="zh-TW" altLang="en-US" sz="2000" smtClean="0">
                <a:latin typeface="Microsoft JhengHei"/>
                <a:ea typeface="Microsoft JhengHei"/>
              </a:rPr>
              <a:t>警報未播放：確認 </a:t>
            </a:r>
            <a:r>
              <a:rPr lang="en-US" altLang="zh-TW" sz="2000" smtClean="0">
                <a:latin typeface="Microsoft JhengHei"/>
                <a:ea typeface="Microsoft JhengHei"/>
              </a:rPr>
              <a:t>Windows </a:t>
            </a:r>
            <a:r>
              <a:rPr lang="zh-TW" altLang="en-US" sz="2000" smtClean="0">
                <a:latin typeface="Microsoft JhengHei"/>
                <a:ea typeface="Microsoft JhengHei"/>
              </a:rPr>
              <a:t>主音量、應用程式混音器與 </a:t>
            </a:r>
            <a:r>
              <a:rPr lang="en-US" altLang="zh-TW" sz="2000" smtClean="0">
                <a:latin typeface="Microsoft JhengHei"/>
                <a:ea typeface="Microsoft JhengHei"/>
              </a:rPr>
              <a:t>alarm.wav
• </a:t>
            </a:r>
            <a:r>
              <a:rPr lang="zh-TW" altLang="en-US" sz="2000" smtClean="0">
                <a:latin typeface="Microsoft JhengHei"/>
                <a:ea typeface="Microsoft JhengHei"/>
              </a:rPr>
              <a:t>回報時請附：操作步驟、畫面截圖、來源檔名、發生時間
</a:t>
            </a:r>
            <a:r>
              <a:rPr lang="en-US" altLang="zh-TW" sz="2000" smtClean="0">
                <a:latin typeface="Microsoft JhengHei"/>
                <a:ea typeface="Microsoft JhengHei"/>
              </a:rPr>
              <a:t>• </a:t>
            </a:r>
            <a:r>
              <a:rPr lang="zh-TW" altLang="en-US" sz="2000" smtClean="0">
                <a:latin typeface="Microsoft JhengHei"/>
                <a:ea typeface="Microsoft JhengHei"/>
              </a:rPr>
              <a:t>不要傳送含公司機密或個人資料的檔案到未核准的外部服務</a:t>
            </a:r>
            <a:endParaRPr lang="zh-TW" altLang="en-US" sz="2000" dirty="0">
              <a:latin typeface="Microsoft JhengHei"/>
              <a:ea typeface="Microsoft JhengHei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3E8AE919-3F8E-4CBA-923C-7A8CBED34249}" type="slidenum">
              <a:rPr lang="zh-TW" altLang="en-US" smtClean="0">
                <a:solidFill>
                  <a:schemeClr val="bg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pPr algn="ctr"/>
              <a:t>20</a:t>
            </a:fld>
            <a:endParaRPr lang="zh-TW" altLang="en-US" sz="1050" dirty="0">
              <a:solidFill>
                <a:schemeClr val="bg1"/>
              </a:solidFill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162495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b="1" smtClean="0">
                <a:latin typeface="Microsoft JhengHei"/>
                <a:ea typeface="Microsoft JhengHei"/>
              </a:rPr>
              <a:t>結語</a:t>
            </a:r>
            <a:endParaRPr lang="zh-TW" altLang="en-US" sz="2800" b="1" dirty="0">
              <a:latin typeface="Microsoft JhengHei"/>
              <a:ea typeface="Microsoft JhengHei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altLang="zh-TW" sz="2000" smtClean="0">
                <a:latin typeface="Microsoft JhengHei"/>
                <a:ea typeface="Microsoft JhengHei"/>
              </a:rPr>
              <a:t>• Movie Schedule Alarm </a:t>
            </a:r>
            <a:r>
              <a:rPr lang="zh-TW" altLang="en-US" sz="2000" smtClean="0">
                <a:latin typeface="Microsoft JhengHei"/>
                <a:ea typeface="Microsoft JhengHei"/>
              </a:rPr>
              <a:t>將場次整理、即時監看與背景提醒集中完成
</a:t>
            </a:r>
            <a:r>
              <a:rPr lang="en-US" altLang="zh-TW" sz="2000" smtClean="0">
                <a:latin typeface="Microsoft JhengHei"/>
                <a:ea typeface="Microsoft JhengHei"/>
              </a:rPr>
              <a:t>• </a:t>
            </a:r>
            <a:r>
              <a:rPr lang="zh-TW" altLang="en-US" sz="2000" smtClean="0">
                <a:latin typeface="Microsoft JhengHei"/>
                <a:ea typeface="Microsoft JhengHei"/>
              </a:rPr>
              <a:t>使用者只需要正式 </a:t>
            </a:r>
            <a:r>
              <a:rPr lang="en-US" altLang="zh-TW" sz="2000" smtClean="0">
                <a:latin typeface="Microsoft JhengHei"/>
                <a:ea typeface="Microsoft JhengHei"/>
              </a:rPr>
              <a:t>V1.0 </a:t>
            </a:r>
            <a:r>
              <a:rPr lang="zh-TW" altLang="en-US" sz="2000" smtClean="0">
                <a:latin typeface="Microsoft JhengHei"/>
                <a:ea typeface="Microsoft JhengHei"/>
              </a:rPr>
              <a:t>安裝程式，不需要 </a:t>
            </a:r>
            <a:r>
              <a:rPr lang="en-US" altLang="zh-TW" sz="2000" smtClean="0">
                <a:latin typeface="Microsoft JhengHei"/>
                <a:ea typeface="Microsoft JhengHei"/>
              </a:rPr>
              <a:t>Node.js</a:t>
            </a:r>
            <a:r>
              <a:rPr lang="zh-TW" altLang="en-US" sz="2000" smtClean="0">
                <a:latin typeface="Microsoft JhengHei"/>
                <a:ea typeface="Microsoft JhengHei"/>
              </a:rPr>
              <a:t>、</a:t>
            </a:r>
            <a:r>
              <a:rPr lang="en-US" altLang="zh-TW" sz="2000" smtClean="0">
                <a:latin typeface="Microsoft JhengHei"/>
                <a:ea typeface="Microsoft JhengHei"/>
              </a:rPr>
              <a:t>npm </a:t>
            </a:r>
            <a:r>
              <a:rPr lang="zh-TW" altLang="en-US" sz="2000" smtClean="0">
                <a:latin typeface="Microsoft JhengHei"/>
                <a:ea typeface="Microsoft JhengHei"/>
              </a:rPr>
              <a:t>或 </a:t>
            </a:r>
            <a:r>
              <a:rPr lang="en-US" altLang="zh-TW" sz="2000" smtClean="0">
                <a:latin typeface="Microsoft JhengHei"/>
                <a:ea typeface="Microsoft JhengHei"/>
              </a:rPr>
              <a:t>Python
• </a:t>
            </a:r>
            <a:r>
              <a:rPr lang="zh-TW" altLang="en-US" sz="2000" smtClean="0">
                <a:latin typeface="Microsoft JhengHei"/>
                <a:ea typeface="Microsoft JhengHei"/>
              </a:rPr>
              <a:t>每週更新場次與 </a:t>
            </a:r>
            <a:r>
              <a:rPr lang="en-US" altLang="zh-TW" sz="2000" smtClean="0">
                <a:latin typeface="Microsoft JhengHei"/>
                <a:ea typeface="Microsoft JhengHei"/>
              </a:rPr>
              <a:t>DCP </a:t>
            </a:r>
            <a:r>
              <a:rPr lang="zh-TW" altLang="en-US" sz="2000" smtClean="0">
                <a:latin typeface="Microsoft JhengHei"/>
                <a:ea typeface="Microsoft JhengHei"/>
              </a:rPr>
              <a:t>資料，即可維持最新監控內容
</a:t>
            </a:r>
            <a:r>
              <a:rPr lang="en-US" altLang="zh-TW" sz="2000" smtClean="0">
                <a:latin typeface="Microsoft JhengHei"/>
                <a:ea typeface="Microsoft JhengHei"/>
              </a:rPr>
              <a:t>• </a:t>
            </a:r>
            <a:r>
              <a:rPr lang="zh-TW" altLang="en-US" sz="2000" smtClean="0">
                <a:latin typeface="Microsoft JhengHei"/>
                <a:ea typeface="Microsoft JhengHei"/>
              </a:rPr>
              <a:t>日常使用重點：正確匯入、抽查資料、保持常駐、確認警報</a:t>
            </a:r>
            <a:endParaRPr lang="zh-TW" altLang="en-US" sz="2000" dirty="0">
              <a:latin typeface="Microsoft JhengHei"/>
              <a:ea typeface="Microsoft JhengHei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3E8AE919-3F8E-4CBA-923C-7A8CBED34249}" type="slidenum">
              <a:rPr lang="zh-TW" altLang="en-US" smtClean="0">
                <a:solidFill>
                  <a:schemeClr val="bg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pPr algn="ctr"/>
              <a:t>21</a:t>
            </a:fld>
            <a:endParaRPr lang="zh-TW" altLang="en-US" sz="1050" dirty="0">
              <a:solidFill>
                <a:schemeClr val="bg1"/>
              </a:solidFill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12529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471</Words>
  <Application>Microsoft Office PowerPoint</Application>
  <PresentationFormat>如螢幕大小 (16:9)</PresentationFormat>
  <Paragraphs>123</Paragraphs>
  <Slides>21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22" baseType="lpstr">
      <vt:lpstr>Office 佈景主題</vt:lpstr>
      <vt:lpstr>PowerPoint 簡報</vt:lpstr>
      <vt:lpstr>開發背景與目標</vt:lpstr>
      <vt:lpstr>主要功能總覽</vt:lpstr>
      <vt:lpstr>安裝與第一次啟動</vt:lpstr>
      <vt:lpstr>匯入 Excel 或 PDF 場次表</vt:lpstr>
      <vt:lpstr>Excel／PDF 匯入流程示意圖</vt:lpstr>
      <vt:lpstr>整週檔案與日期自動修正</vt:lpstr>
      <vt:lpstr>營運日與跨午夜規則</vt:lpstr>
      <vt:lpstr>跨午夜營運日示意圖</vt:lpstr>
      <vt:lpstr>DCP 中文片名資料</vt:lpstr>
      <vt:lpstr>場次列表操作</vt:lpstr>
      <vt:lpstr>Next Movie 與倒數</vt:lpstr>
      <vt:lpstr>Next Movie 判定示意圖</vt:lpstr>
      <vt:lpstr>開播警報與背景提醒</vt:lpstr>
      <vt:lpstr>系統匣與背景常駐</vt:lpstr>
      <vt:lpstr>系統匣與背景監控示意圖</vt:lpstr>
      <vt:lpstr>離線與安全設計</vt:lpstr>
      <vt:lpstr>每日操作建議</vt:lpstr>
      <vt:lpstr>優點與已知限制</vt:lpstr>
      <vt:lpstr>異常處理與回報方式</vt:lpstr>
      <vt:lpstr>結語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Vivian Tsai</dc:creator>
  <cp:lastModifiedBy>Jim Chang</cp:lastModifiedBy>
  <cp:revision>30</cp:revision>
  <dcterms:created xsi:type="dcterms:W3CDTF">2026-05-21T04:15:41Z</dcterms:created>
  <dcterms:modified xsi:type="dcterms:W3CDTF">2026-07-18T12:30:19Z</dcterms:modified>
</cp:coreProperties>
</file>